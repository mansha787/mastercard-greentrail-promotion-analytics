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8c20353-5f16-10a9-905e-7c1b0bb3fc67}">
          <p14:sldIdLst>
            <p14:sldId id="256"/>
          </p14:sldIdLst>
        </p14:section>
        <p14:section name="The story so far" id="{2821d26c-983b-1ba3-6843-6c21f27cb612}">
          <p14:sldIdLst>
            <p14:sldId id="257"/>
            <p14:sldId id="258"/>
            <p14:sldId id="259"/>
            <p14:sldId id="260"/>
            <p14:sldId id="261"/>
          </p14:sldIdLst>
        </p14:section>
        <p14:section name="Recommendations" id="{c6950bad-a4b2-5bf0-e18e-3a5be296c757}">
          <p14:sldIdLst>
            <p14:sldId id="262"/>
            <p14:sldId id="263"/>
            <p14:sldId id="264"/>
          </p14:sldIdLst>
        </p14:section>
        <p14:section name="Close" id="{23db307a-f127-a78e-bb2f-36a80614973a}">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4D36"/>
                </a:solidFill>
                <a:latin typeface="+mn-lt"/>
              </a:defRPr>
            </a:pPr>
            <a:r>
              <a:rPr sz="1400" b="0" i="0" u="none" strike="noStrike">
                <a:solidFill>
                  <a:srgbClr val="1F4D36"/>
                </a:solidFill>
                <a:latin typeface="+mn-lt"/>
              </a:rPr>
              <a:t>Average weekly sales per store</a:t>
            </a:r>
          </a:p>
        </c:rich>
      </c:tx>
      <c:layout/>
      <c:overlay val="0"/>
    </c:title>
    <c:autoTitleDeleted val="0"/>
    <c:plotArea>
      <c:layout/>
      <c:barChart>
        <c:barDir val="col"/>
        <c:grouping val="clustered"/>
        <c:varyColors val="0"/>
        <c:ser>
          <c:idx val="0"/>
          <c:order val="0"/>
          <c:tx>
            <c:strRef>
              <c:f>Sheet1!$B$1</c:f>
              <c:strCache>
                <c:ptCount val="1"/>
                <c:pt idx="0">
                  <c:v>Average weekly sales per store</c:v>
                </c:pt>
              </c:strCache>
            </c:strRef>
          </c:tx>
          <c:spPr>
            <a:solidFill>
              <a:srgbClr val="8A978F"/>
            </a:solidFill>
            <a:effectLst/>
          </c:spPr>
          <c:invertIfNegative val="0"/>
          <c:dLbls>
            <c:numFmt formatCode="$#,##0" sourceLinked="0"/>
            <c:txPr>
              <a:bodyPr/>
              <a:lstStyle/>
              <a:p>
                <a:pPr>
                  <a:defRPr b="1" i="0" strike="noStrike" sz="1300" u="none">
                    <a:solidFill>
                      <a:srgbClr val="2B3A32"/>
                    </a:solidFill>
                    <a:latin typeface="+mn-lt"/>
                  </a:defRPr>
                </a:pPr>
              </a:p>
            </c:txPr>
            <c:showLegendKey val="0"/>
            <c:showVal val="1"/>
            <c:showCatName val="0"/>
            <c:showSerName val="0"/>
            <c:showPercent val="0"/>
            <c:showBubbleSize val="0"/>
            <c:showLeaderLines val="0"/>
          </c:dLbls>
          <c:dPt>
            <c:idx val="0"/>
            <c:invertIfNegative val="0"/>
            <c:bubble3D val="0"/>
            <c:spPr>
              <a:solidFill>
                <a:srgbClr val="8A978F"/>
              </a:solidFill>
              <a:effectLst/>
            </c:spPr>
          </c:dPt>
          <c:dPt>
            <c:idx val="1"/>
            <c:invertIfNegative val="0"/>
            <c:bubble3D val="0"/>
            <c:spPr>
              <a:solidFill>
                <a:srgbClr val="2E7D4F"/>
              </a:solidFill>
              <a:effectLst/>
            </c:spPr>
          </c:dPt>
          <c:dPt>
            <c:idx val="2"/>
            <c:invertIfNegative val="0"/>
            <c:bubble3D val="0"/>
            <c:spPr>
              <a:solidFill>
                <a:srgbClr val="8FBF7F"/>
              </a:solidFill>
              <a:effectLst/>
            </c:spPr>
          </c:dPt>
          <c:cat>
            <c:multiLvlStrRef>
              <c:f>Sheet1!$A$2:$A$4</c:f>
              <c:multiLvlStrCache>
                <c:ptCount val="3"/>
                <c:lvl>
                  <c:pt idx="0">
                    <c:v>Before promotion</c:v>
                  </c:pt>
                  <c:pt idx="1">
                    <c:v>During promotion</c:v>
                  </c:pt>
                  <c:pt idx="2">
                    <c:v>After promotion</c:v>
                  </c:pt>
                </c:lvl>
              </c:multiLvlStrCache>
            </c:multiLvlStrRef>
          </c:cat>
          <c:val>
            <c:numRef>
              <c:f>Sheet1!$B$2:$B$4</c:f>
              <c:numCache>
                <c:formatCode>General</c:formatCode>
                <c:ptCount val="3"/>
                <c:pt idx="0">
                  <c:v>36800</c:v>
                </c:pt>
                <c:pt idx="1">
                  <c:v>49440</c:v>
                </c:pt>
                <c:pt idx="2">
                  <c:v>38280</c:v>
                </c:pt>
              </c:numCache>
            </c:numRef>
          </c:val>
        </c:ser>
        <c:dLbls>
          <c:numFmt formatCode="$#,##0" sourceLinked="0"/>
          <c:txPr>
            <a:bodyPr/>
            <a:lstStyle/>
            <a:p>
              <a:pPr>
                <a:defRPr b="1" i="0" strike="noStrike" sz="1300" u="none">
                  <a:solidFill>
                    <a:srgbClr val="2B3A32"/>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B3A32"/>
                </a:solidFill>
                <a:latin typeface="+mn-lt"/>
              </a:defRPr>
            </a:pPr>
            <a:endParaRPr lang="en-US"/>
          </a:p>
        </c:txPr>
        <c:crossAx val="2094734552"/>
        <c:crosses val="autoZero"/>
        <c:auto val="1"/>
        <c:lblAlgn val="ctr"/>
        <c:noMultiLvlLbl val="1"/>
      </c:catAx>
      <c:valAx>
        <c:axId val="2094734552"/>
        <c:scaling>
          <c:orientation val="minMax"/>
          <c:max val="58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4D36"/>
                </a:solidFill>
                <a:latin typeface="+mn-lt"/>
              </a:defRPr>
            </a:pPr>
            <a:r>
              <a:rPr sz="1400" b="0" i="0" u="none" strike="noStrike">
                <a:solidFill>
                  <a:srgbClr val="1F4D36"/>
                </a:solidFill>
                <a:latin typeface="+mn-lt"/>
              </a:rPr>
              <a:t>Change vs. before the promotion</a:t>
            </a:r>
          </a:p>
        </c:rich>
      </c:tx>
      <c:layout/>
      <c:overlay val="0"/>
    </c:title>
    <c:autoTitleDeleted val="0"/>
    <c:plotArea>
      <c:layout/>
      <c:barChart>
        <c:barDir val="col"/>
        <c:grouping val="clustered"/>
        <c:varyColors val="0"/>
        <c:ser>
          <c:idx val="0"/>
          <c:order val="0"/>
          <c:tx>
            <c:strRef>
              <c:f>Sheet1!$B$1</c:f>
              <c:strCache>
                <c:ptCount val="1"/>
                <c:pt idx="0">
                  <c:v>Sales</c:v>
                </c:pt>
              </c:strCache>
            </c:strRef>
          </c:tx>
          <c:spPr>
            <a:solidFill>
              <a:srgbClr val="2E7D4F"/>
            </a:solidFill>
            <a:effectLst/>
          </c:spPr>
          <c:invertIfNegative val="0"/>
          <c:dLbls>
            <c:numFmt formatCode="+0.0&quot;%&quot;;-0.0&quot;%&quot;" sourceLinked="0"/>
            <c:txPr>
              <a:bodyPr/>
              <a:lstStyle/>
              <a:p>
                <a:pPr>
                  <a:defRPr b="1" i="0" strike="noStrike" sz="1300" u="none">
                    <a:solidFill>
                      <a:srgbClr val="2B3A32"/>
                    </a:solidFill>
                    <a:latin typeface="+mn-lt"/>
                  </a:defRPr>
                </a:pPr>
              </a:p>
            </c:txPr>
            <c:showLegendKey val="0"/>
            <c:showVal val="1"/>
            <c:showCatName val="0"/>
            <c:showSerName val="0"/>
            <c:showPercent val="0"/>
            <c:showBubbleSize val="0"/>
            <c:showLeaderLines val="0"/>
          </c:dLbls>
          <c:cat>
            <c:multiLvlStrRef>
              <c:f>Sheet1!$A$2:$A$3</c:f>
              <c:multiLvlStrCache>
                <c:ptCount val="2"/>
                <c:lvl>
                  <c:pt idx="0">
                    <c:v>During promotion</c:v>
                  </c:pt>
                  <c:pt idx="1">
                    <c:v>After promotion</c:v>
                  </c:pt>
                </c:lvl>
              </c:multiLvlStrCache>
            </c:multiLvlStrRef>
          </c:cat>
          <c:val>
            <c:numRef>
              <c:f>Sheet1!$B$2:$B$3</c:f>
              <c:numCache>
                <c:formatCode>General</c:formatCode>
                <c:ptCount val="2"/>
                <c:pt idx="0">
                  <c:v>35.2</c:v>
                </c:pt>
                <c:pt idx="1">
                  <c:v>4.6</c:v>
                </c:pt>
              </c:numCache>
            </c:numRef>
          </c:val>
        </c:ser>
        <c:ser>
          <c:idx val="1"/>
          <c:order val="1"/>
          <c:tx>
            <c:strRef>
              <c:f>Sheet1!$C$1</c:f>
              <c:strCache>
                <c:ptCount val="1"/>
                <c:pt idx="0">
                  <c:v>Store visits</c:v>
                </c:pt>
              </c:strCache>
            </c:strRef>
          </c:tx>
          <c:spPr>
            <a:solidFill>
              <a:srgbClr val="3C6E8F"/>
            </a:solidFill>
            <a:effectLst/>
          </c:spPr>
          <c:invertIfNegative val="0"/>
          <c:dLbls>
            <c:numFmt formatCode="+0.0&quot;%&quot;;-0.0&quot;%&quot;" sourceLinked="0"/>
            <c:txPr>
              <a:bodyPr/>
              <a:lstStyle/>
              <a:p>
                <a:pPr>
                  <a:defRPr b="1" i="0" strike="noStrike" sz="1300" u="none">
                    <a:solidFill>
                      <a:srgbClr val="2B3A32"/>
                    </a:solidFill>
                    <a:latin typeface="+mn-lt"/>
                  </a:defRPr>
                </a:pPr>
              </a:p>
            </c:txPr>
            <c:showLegendKey val="0"/>
            <c:showVal val="1"/>
            <c:showCatName val="0"/>
            <c:showSerName val="0"/>
            <c:showPercent val="0"/>
            <c:showBubbleSize val="0"/>
            <c:showLeaderLines val="0"/>
          </c:dLbls>
          <c:cat>
            <c:multiLvlStrRef>
              <c:f>Sheet1!$A$2:$A$3</c:f>
              <c:multiLvlStrCache>
                <c:ptCount val="2"/>
                <c:lvl>
                  <c:pt idx="0">
                    <c:v>During promotion</c:v>
                  </c:pt>
                  <c:pt idx="1">
                    <c:v>After promotion</c:v>
                  </c:pt>
                </c:lvl>
              </c:multiLvlStrCache>
            </c:multiLvlStrRef>
          </c:cat>
          <c:val>
            <c:numRef>
              <c:f>Sheet1!$C$2:$C$3</c:f>
              <c:numCache>
                <c:formatCode>General</c:formatCode>
                <c:ptCount val="2"/>
                <c:pt idx="0">
                  <c:v>25.7</c:v>
                </c:pt>
                <c:pt idx="1">
                  <c:v>7</c:v>
                </c:pt>
              </c:numCache>
            </c:numRef>
          </c:val>
        </c:ser>
        <c:dLbls>
          <c:numFmt formatCode="+0.0&quot;%&quot;;-0.0&quot;%&quot;" sourceLinked="0"/>
          <c:txPr>
            <a:bodyPr/>
            <a:lstStyle/>
            <a:p>
              <a:pPr>
                <a:defRPr b="1" i="0" strike="noStrike" sz="1300" u="none">
                  <a:solidFill>
                    <a:srgbClr val="2B3A32"/>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B3A32"/>
                </a:solidFill>
                <a:latin typeface="+mn-lt"/>
              </a:defRPr>
            </a:pPr>
            <a:endParaRPr lang="en-US"/>
          </a:p>
        </c:txPr>
        <c:crossAx val="2094734552"/>
        <c:crosses val="autoZero"/>
        <c:auto val="1"/>
        <c:lblAlgn val="ctr"/>
        <c:noMultiLvlLbl val="1"/>
      </c:catAx>
      <c:valAx>
        <c:axId val="2094734552"/>
        <c:scaling>
          <c:orientation val="minMax"/>
          <c:max val="43"/>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2B3A3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4D36"/>
                </a:solidFill>
                <a:latin typeface="+mn-lt"/>
              </a:defRPr>
            </a:pPr>
            <a:r>
              <a:rPr sz="1400" b="0" i="0" u="none" strike="noStrike">
                <a:solidFill>
                  <a:srgbClr val="1F4D36"/>
                </a:solidFill>
                <a:latin typeface="+mn-lt"/>
              </a:rPr>
              <a:t>Sales lift vs. before the promotion</a:t>
            </a:r>
          </a:p>
        </c:rich>
      </c:tx>
      <c:layout/>
      <c:overlay val="0"/>
    </c:title>
    <c:autoTitleDeleted val="0"/>
    <c:plotArea>
      <c:layout/>
      <c:barChart>
        <c:barDir val="col"/>
        <c:grouping val="clustered"/>
        <c:varyColors val="0"/>
        <c:ser>
          <c:idx val="0"/>
          <c:order val="0"/>
          <c:tx>
            <c:strRef>
              <c:f>Sheet1!$B$1</c:f>
              <c:strCache>
                <c:ptCount val="1"/>
                <c:pt idx="0">
                  <c:v>During promotion</c:v>
                </c:pt>
              </c:strCache>
            </c:strRef>
          </c:tx>
          <c:spPr>
            <a:solidFill>
              <a:srgbClr val="2E7D4F"/>
            </a:solidFill>
            <a:effectLst/>
          </c:spPr>
          <c:invertIfNegative val="0"/>
          <c:dLbls>
            <c:numFmt formatCode="+0.0&quot;%&quot;;-0.0&quot;%&quot;" sourceLinked="0"/>
            <c:txPr>
              <a:bodyPr/>
              <a:lstStyle/>
              <a:p>
                <a:pPr>
                  <a:defRPr b="1" i="0" strike="noStrike" sz="1300" u="none">
                    <a:solidFill>
                      <a:srgbClr val="2B3A32"/>
                    </a:solidFill>
                    <a:latin typeface="+mn-lt"/>
                  </a:defRPr>
                </a:pPr>
              </a:p>
            </c:txPr>
            <c:showLegendKey val="0"/>
            <c:showVal val="1"/>
            <c:showCatName val="0"/>
            <c:showSerName val="0"/>
            <c:showPercent val="0"/>
            <c:showBubbleSize val="0"/>
            <c:showLeaderLines val="0"/>
          </c:dLbls>
          <c:cat>
            <c:multiLvlStrRef>
              <c:f>Sheet1!$A$2:$A$4</c:f>
              <c:multiLvlStrCache>
                <c:ptCount val="3"/>
                <c:lvl>
                  <c:pt idx="0">
                    <c:v>Buy-one-get-one</c:v>
                  </c:pt>
                  <c:pt idx="1">
                    <c:v>Discount</c:v>
                  </c:pt>
                  <c:pt idx="2">
                    <c:v>Special event</c:v>
                  </c:pt>
                </c:lvl>
              </c:multiLvlStrCache>
            </c:multiLvlStrRef>
          </c:cat>
          <c:val>
            <c:numRef>
              <c:f>Sheet1!$B$2:$B$4</c:f>
              <c:numCache>
                <c:formatCode>General</c:formatCode>
                <c:ptCount val="3"/>
                <c:pt idx="0">
                  <c:v>30.4</c:v>
                </c:pt>
                <c:pt idx="1">
                  <c:v>36.8</c:v>
                </c:pt>
                <c:pt idx="2">
                  <c:v>38.2</c:v>
                </c:pt>
              </c:numCache>
            </c:numRef>
          </c:val>
        </c:ser>
        <c:ser>
          <c:idx val="1"/>
          <c:order val="1"/>
          <c:tx>
            <c:strRef>
              <c:f>Sheet1!$C$1</c:f>
              <c:strCache>
                <c:ptCount val="1"/>
                <c:pt idx="0">
                  <c:v>After promotion</c:v>
                </c:pt>
              </c:strCache>
            </c:strRef>
          </c:tx>
          <c:spPr>
            <a:solidFill>
              <a:srgbClr val="E07B39"/>
            </a:solidFill>
            <a:effectLst/>
          </c:spPr>
          <c:invertIfNegative val="0"/>
          <c:dLbls>
            <c:numFmt formatCode="+0.0&quot;%&quot;;-0.0&quot;%&quot;" sourceLinked="0"/>
            <c:txPr>
              <a:bodyPr/>
              <a:lstStyle/>
              <a:p>
                <a:pPr>
                  <a:defRPr b="1" i="0" strike="noStrike" sz="1300" u="none">
                    <a:solidFill>
                      <a:srgbClr val="2B3A32"/>
                    </a:solidFill>
                    <a:latin typeface="+mn-lt"/>
                  </a:defRPr>
                </a:pPr>
              </a:p>
            </c:txPr>
            <c:showLegendKey val="0"/>
            <c:showVal val="1"/>
            <c:showCatName val="0"/>
            <c:showSerName val="0"/>
            <c:showPercent val="0"/>
            <c:showBubbleSize val="0"/>
            <c:showLeaderLines val="0"/>
          </c:dLbls>
          <c:cat>
            <c:multiLvlStrRef>
              <c:f>Sheet1!$A$2:$A$4</c:f>
              <c:multiLvlStrCache>
                <c:ptCount val="3"/>
                <c:lvl>
                  <c:pt idx="0">
                    <c:v>Buy-one-get-one</c:v>
                  </c:pt>
                  <c:pt idx="1">
                    <c:v>Discount</c:v>
                  </c:pt>
                  <c:pt idx="2">
                    <c:v>Special event</c:v>
                  </c:pt>
                </c:lvl>
              </c:multiLvlStrCache>
            </c:multiLvlStrRef>
          </c:cat>
          <c:val>
            <c:numRef>
              <c:f>Sheet1!$C$2:$C$4</c:f>
              <c:numCache>
                <c:formatCode>General</c:formatCode>
                <c:ptCount val="3"/>
                <c:pt idx="0">
                  <c:v>-1.9</c:v>
                </c:pt>
                <c:pt idx="1">
                  <c:v>5.6</c:v>
                </c:pt>
                <c:pt idx="2">
                  <c:v>9.9</c:v>
                </c:pt>
              </c:numCache>
            </c:numRef>
          </c:val>
        </c:ser>
        <c:dLbls>
          <c:numFmt formatCode="+0.0&quot;%&quot;;-0.0&quot;%&quot;" sourceLinked="0"/>
          <c:txPr>
            <a:bodyPr/>
            <a:lstStyle/>
            <a:p>
              <a:pPr>
                <a:defRPr b="1" i="0" strike="noStrike" sz="1300" u="none">
                  <a:solidFill>
                    <a:srgbClr val="2B3A32"/>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B3A32"/>
                </a:solidFill>
                <a:latin typeface="+mn-lt"/>
              </a:defRPr>
            </a:pPr>
            <a:endParaRPr lang="en-US"/>
          </a:p>
        </c:txPr>
        <c:crossAx val="2094734552"/>
        <c:crosses val="autoZero"/>
        <c:auto val="1"/>
        <c:lblAlgn val="ctr"/>
        <c:noMultiLvlLbl val="1"/>
      </c:catAx>
      <c:valAx>
        <c:axId val="2094734552"/>
        <c:scaling>
          <c:orientation val="minMax"/>
          <c:max val="46"/>
          <c:min val="-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2B3A3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4D36"/>
                </a:solidFill>
                <a:latin typeface="+mn-lt"/>
              </a:defRPr>
            </a:pPr>
            <a:r>
              <a:rPr sz="1400" b="0" i="0" u="none" strike="noStrike">
                <a:solidFill>
                  <a:srgbClr val="1F4D36"/>
                </a:solidFill>
                <a:latin typeface="+mn-lt"/>
              </a:rPr>
              <a:t>Sales lift during the promotion</a:t>
            </a:r>
          </a:p>
        </c:rich>
      </c:tx>
      <c:layout/>
      <c:overlay val="0"/>
    </c:title>
    <c:autoTitleDeleted val="0"/>
    <c:plotArea>
      <c:layout/>
      <c:barChart>
        <c:barDir val="col"/>
        <c:grouping val="clustered"/>
        <c:varyColors val="0"/>
        <c:ser>
          <c:idx val="0"/>
          <c:order val="0"/>
          <c:tx>
            <c:strRef>
              <c:f>Sheet1!$B$1</c:f>
              <c:strCache>
                <c:ptCount val="1"/>
                <c:pt idx="0">
                  <c:v>Suburban stores</c:v>
                </c:pt>
              </c:strCache>
            </c:strRef>
          </c:tx>
          <c:spPr>
            <a:solidFill>
              <a:srgbClr val="3C6E8F"/>
            </a:solidFill>
            <a:effectLst/>
          </c:spPr>
          <c:invertIfNegative val="0"/>
          <c:dLbls>
            <c:numFmt formatCode="+0.0&quot;%&quot;" sourceLinked="0"/>
            <c:txPr>
              <a:bodyPr/>
              <a:lstStyle/>
              <a:p>
                <a:pPr>
                  <a:defRPr b="1" i="0" strike="noStrike" sz="1300" u="none">
                    <a:solidFill>
                      <a:srgbClr val="2B3A32"/>
                    </a:solidFill>
                    <a:latin typeface="+mn-lt"/>
                  </a:defRPr>
                </a:pPr>
              </a:p>
            </c:txPr>
            <c:showLegendKey val="0"/>
            <c:showVal val="1"/>
            <c:showCatName val="0"/>
            <c:showSerName val="0"/>
            <c:showPercent val="0"/>
            <c:showBubbleSize val="0"/>
            <c:showLeaderLines val="0"/>
          </c:dLbls>
          <c:cat>
            <c:multiLvlStrRef>
              <c:f>Sheet1!$A$2:$A$4</c:f>
              <c:multiLvlStrCache>
                <c:ptCount val="3"/>
                <c:lvl>
                  <c:pt idx="0">
                    <c:v>Buy-one-get-one</c:v>
                  </c:pt>
                  <c:pt idx="1">
                    <c:v>Discount</c:v>
                  </c:pt>
                  <c:pt idx="2">
                    <c:v>Special event</c:v>
                  </c:pt>
                </c:lvl>
              </c:multiLvlStrCache>
            </c:multiLvlStrRef>
          </c:cat>
          <c:val>
            <c:numRef>
              <c:f>Sheet1!$B$2:$B$4</c:f>
              <c:numCache>
                <c:formatCode>General</c:formatCode>
                <c:ptCount val="3"/>
                <c:pt idx="0">
                  <c:v>22.1</c:v>
                </c:pt>
                <c:pt idx="1">
                  <c:v>29.5</c:v>
                </c:pt>
                <c:pt idx="2">
                  <c:v>34.1</c:v>
                </c:pt>
              </c:numCache>
            </c:numRef>
          </c:val>
        </c:ser>
        <c:ser>
          <c:idx val="1"/>
          <c:order val="1"/>
          <c:tx>
            <c:strRef>
              <c:f>Sheet1!$C$1</c:f>
              <c:strCache>
                <c:ptCount val="1"/>
                <c:pt idx="0">
                  <c:v>Urban stores</c:v>
                </c:pt>
              </c:strCache>
            </c:strRef>
          </c:tx>
          <c:spPr>
            <a:solidFill>
              <a:srgbClr val="2E7D4F"/>
            </a:solidFill>
            <a:effectLst/>
          </c:spPr>
          <c:invertIfNegative val="0"/>
          <c:dLbls>
            <c:numFmt formatCode="+0.0&quot;%&quot;" sourceLinked="0"/>
            <c:txPr>
              <a:bodyPr/>
              <a:lstStyle/>
              <a:p>
                <a:pPr>
                  <a:defRPr b="1" i="0" strike="noStrike" sz="1300" u="none">
                    <a:solidFill>
                      <a:srgbClr val="2B3A32"/>
                    </a:solidFill>
                    <a:latin typeface="+mn-lt"/>
                  </a:defRPr>
                </a:pPr>
              </a:p>
            </c:txPr>
            <c:showLegendKey val="0"/>
            <c:showVal val="1"/>
            <c:showCatName val="0"/>
            <c:showSerName val="0"/>
            <c:showPercent val="0"/>
            <c:showBubbleSize val="0"/>
            <c:showLeaderLines val="0"/>
          </c:dLbls>
          <c:cat>
            <c:multiLvlStrRef>
              <c:f>Sheet1!$A$2:$A$4</c:f>
              <c:multiLvlStrCache>
                <c:ptCount val="3"/>
                <c:lvl>
                  <c:pt idx="0">
                    <c:v>Buy-one-get-one</c:v>
                  </c:pt>
                  <c:pt idx="1">
                    <c:v>Discount</c:v>
                  </c:pt>
                  <c:pt idx="2">
                    <c:v>Special event</c:v>
                  </c:pt>
                </c:lvl>
              </c:multiLvlStrCache>
            </c:multiLvlStrRef>
          </c:cat>
          <c:val>
            <c:numRef>
              <c:f>Sheet1!$C$2:$C$4</c:f>
              <c:numCache>
                <c:formatCode>General</c:formatCode>
                <c:ptCount val="3"/>
                <c:pt idx="0">
                  <c:v>38.8</c:v>
                </c:pt>
                <c:pt idx="1">
                  <c:v>46.1</c:v>
                </c:pt>
                <c:pt idx="2">
                  <c:v>40.7</c:v>
                </c:pt>
              </c:numCache>
            </c:numRef>
          </c:val>
        </c:ser>
        <c:dLbls>
          <c:numFmt formatCode="+0.0&quot;%&quot;" sourceLinked="0"/>
          <c:txPr>
            <a:bodyPr/>
            <a:lstStyle/>
            <a:p>
              <a:pPr>
                <a:defRPr b="1" i="0" strike="noStrike" sz="1300" u="none">
                  <a:solidFill>
                    <a:srgbClr val="2B3A32"/>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B3A32"/>
                </a:solidFill>
                <a:latin typeface="+mn-lt"/>
              </a:defRPr>
            </a:pPr>
            <a:endParaRPr lang="en-US"/>
          </a:p>
        </c:txPr>
        <c:crossAx val="2094734552"/>
        <c:crosses val="autoZero"/>
        <c:auto val="1"/>
        <c:lblAlgn val="ctr"/>
        <c:noMultiLvlLbl val="1"/>
      </c:catAx>
      <c:valAx>
        <c:axId val="2094734552"/>
        <c:scaling>
          <c:orientation val="minMax"/>
          <c:max val="5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2B3A3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setting the scene: GreenTrail wants promotions that bring people into stores AND fit a brand built on sustainability. In the next 15 minutes I will show what 25 past promotions tell us, what they cannot tell us, and how we propose to find out what really works. Keep it conversational; the numbers are there to support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in plain language. Promotions work as a traffic driver, but leadership is unsure about lasting impact and brand fit. The data covers 25 stores, three promotion types and two store formats; each promotion ran for about two weeks between April and August 2023. The question on the banner is the thread for the whole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The average store sold about $36,800 a week before, $49,440 during, and $38,280 after. That is a 35% lift during the promotion, but only about 4.6% remains afterwards, so roughly an eighth of the boost sticks. Promotions clearly work in the moment; the open question is how to make more of it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the lift happen? Mostly because more people come in: visits rose about 26% during the promotion versus sales up 35%. Across stores, the two move together (correlation 0.85). Spend per visit rises a little during the promotion, then slips slightly below the starting level afterwards. So after a promotion we keep a few more visitors, but not bigger baskets.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promotions lift sales while they run, with Special Event and Discount slightly ahead of BOGO. The real difference is afterwards. Special Event keeps about 10% above its starting sales; Discount about 6%; BOGO falls just under. None of the eight Special Event stores ended below baseline, compared with four of eight BOGO stores. This is a pattern in a small sample, not proof, which we come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Store format matters. Urban stores see a bigger lift during the promotion (about 42% vs 28%) and keep more of it afterwards. BOGO is the weakest option in both formats, and in suburban stores it ended below where it started. Special Event leads in suburban stores, while in urban stores Discount and Special Event are close. Each bar is only three to five stores, so this guides what to test rather than settles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limits; it builds trust. We cannot separate the promotion's effect from things that would have happened anyway because there are no non-promoted stores to compare with. The groups are small, store type, size and promotion overlap, and all promotions ran in the same spring and summer window. We also flagged a few unusual stores worth investigating, such as Store 1 at +66.7%. These gaps are exactly why we propose a controlled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results are only half the brief. BOGO encourages buying double, which sits awkwardly with a sustainability promise, and it was also the weakest and least lasting in the data, so we suggest keeping it as a benchmark. Special events had the strongest lasting effect and suit sustainable formats like repair clinics and gear swaps. Discounts could be pointed at durable, sustainably made products. These are hypotheses, and we propose tracking sustainability measures next to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recommendation is a controlled test. We compare three promotion approaches, plus today's BOGO as a benchmark and a group of matched control stores that receive nothing new. Four weeks of promotion plus two weeks of follow-up lets us see both the lift and how much of it lasts. We measure the change in test stores minus the change in control stores, and fix success thresholds and the test window before launch. The exact length should be confirmed with a sample-size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a clear call to action. We need three things: approval of the test design, data for stores without promotions plus transaction-level detail, and agreed sustainability measures. With those, we run the six-week test and use week 7 to decide which promotions to scale: those that lift sales, last, and fit GreenTrail's sustainable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GreenTrail Outdoors  |  Promotion insights</a:t>
            </a:r>
            <a:endParaRPr lang="en-US" sz="1000" dirty="0"/>
          </a:p>
        </p:txBody>
      </p:sp>
      <p:sp>
        <p:nvSpPr>
          <p:cNvPr id="3" name="Text 1"/>
          <p:cNvSpPr/>
          <p:nvPr>
            <p:ph idx="101" type="title" hasCustomPrompt="1"/>
          </p:nvPr>
        </p:nvSpPr>
        <p:spPr>
          <a:xfrm>
            <a:off x="548640" y="365760"/>
            <a:ext cx="11091672" cy="86868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_SLID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583680" cy="19202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977640"/>
            <a:ext cx="6309360" cy="118872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731520" y="1188720"/>
            <a:ext cx="6400800" cy="365760"/>
          </a:xfrm>
          <a:prstGeom prst="rect">
            <a:avLst/>
          </a:prstGeom>
          <a:noFill/>
          <a:ln/>
        </p:spPr>
        <p:txBody>
          <a:bodyPr wrap="square" lIns="0" tIns="0" rIns="0" bIns="0" rtlCol="0" anchor="t"/>
          <a:lstStyle/>
          <a:p>
            <a:pPr indent="0" marL="0">
              <a:buNone/>
            </a:pPr>
            <a:r>
              <a:rPr lang="en-US" sz="1400" b="1" spc="400" kern="0" dirty="0">
                <a:solidFill>
                  <a:schemeClr val="accent3"/>
                </a:solidFill>
              </a:rPr>
              <a:t>GREENTRAIL OUTDOORS</a:t>
            </a:r>
            <a:endParaRPr lang="en-US" sz="1400" dirty="0"/>
          </a:p>
        </p:txBody>
      </p:sp>
      <p:sp>
        <p:nvSpPr>
          <p:cNvPr id="3" name="Text 0"/>
          <p:cNvSpPr/>
          <p:nvPr>
            <p:ph idx="100" type="title" hasCustomPrompt="1"/>
          </p:nvPr>
        </p:nvSpPr>
        <p:spPr>
          <a:xfrm>
            <a:off x="731520" y="1828800"/>
            <a:ext cx="6583680" cy="1920240"/>
          </a:xfrm>
          <a:prstGeom prst="rect">
            <a:avLst/>
          </a:prstGeom>
          <a:noFill/>
          <a:ln/>
        </p:spPr>
        <p:txBody>
          <a:bodyPr wrap="square" lIns="0" tIns="0" rIns="0" bIns="0" rtlCol="0" anchor="t"/>
          <a:lstStyle/>
          <a:p>
            <a:pPr algn="l" indent="0" marL="0">
              <a:buNone/>
            </a:pPr>
            <a:r>
              <a:rPr lang="en-US" sz="4800" b="1" dirty="0">
                <a:solidFill>
                  <a:schemeClr val="bg1"/>
                </a:solidFill>
              </a:rPr>
              <a:t>Promotions that bring people back</a:t>
            </a:r>
            <a:endParaRPr lang="en-US" sz="4800" dirty="0"/>
          </a:p>
        </p:txBody>
      </p:sp>
      <p:sp>
        <p:nvSpPr>
          <p:cNvPr id="4" name="Text 0"/>
          <p:cNvSpPr/>
          <p:nvPr>
            <p:ph idx="101" type="body" hasCustomPrompt="1"/>
          </p:nvPr>
        </p:nvSpPr>
        <p:spPr>
          <a:xfrm>
            <a:off x="731520" y="3977640"/>
            <a:ext cx="6309360" cy="1188720"/>
          </a:xfrm>
          <a:prstGeom prst="rect">
            <a:avLst/>
          </a:prstGeom>
          <a:noFill/>
          <a:ln/>
        </p:spPr>
        <p:txBody>
          <a:bodyPr wrap="square" lIns="0" tIns="0" rIns="0" bIns="0" rtlCol="0" anchor="t"/>
          <a:lstStyle/>
          <a:p>
            <a:pPr algn="l" indent="0" marL="0">
              <a:buNone/>
            </a:pPr>
            <a:r>
              <a:rPr lang="en-US" sz="2000" dirty="0">
                <a:solidFill>
                  <a:schemeClr val="bg2"/>
                </a:solidFill>
              </a:rPr>
              <a:t>What 25 store promotions tell us, and a sustainable plan to test what works next</a:t>
            </a:r>
            <a:endParaRPr lang="en-US" sz="2000" dirty="0"/>
          </a:p>
        </p:txBody>
      </p:sp>
      <p:sp>
        <p:nvSpPr>
          <p:cNvPr id="5" name="Mountain large"/>
          <p:cNvSpPr/>
          <p:nvPr/>
        </p:nvSpPr>
        <p:spPr>
          <a:xfrm>
            <a:off x="7863840" y="2377440"/>
            <a:ext cx="4023360" cy="3657600"/>
          </a:xfrm>
          <a:prstGeom prst="triangle">
            <a:avLst/>
          </a:prstGeom>
          <a:solidFill>
            <a:schemeClr val="accent1"/>
          </a:solidFill>
          <a:ln/>
        </p:spPr>
      </p:sp>
      <p:sp>
        <p:nvSpPr>
          <p:cNvPr id="6" name="Mountain medium"/>
          <p:cNvSpPr/>
          <p:nvPr/>
        </p:nvSpPr>
        <p:spPr>
          <a:xfrm>
            <a:off x="9601200" y="3566160"/>
            <a:ext cx="2468880" cy="2468880"/>
          </a:xfrm>
          <a:prstGeom prst="triangle">
            <a:avLst/>
          </a:prstGeom>
          <a:solidFill>
            <a:schemeClr val="accent3"/>
          </a:solidFill>
          <a:ln/>
        </p:spPr>
      </p:sp>
      <p:sp>
        <p:nvSpPr>
          <p:cNvPr id="7" name="Mountain small"/>
          <p:cNvSpPr/>
          <p:nvPr/>
        </p:nvSpPr>
        <p:spPr>
          <a:xfrm>
            <a:off x="7223760" y="4389120"/>
            <a:ext cx="2468880" cy="1645920"/>
          </a:xfrm>
          <a:prstGeom prst="triangle">
            <a:avLst/>
          </a:prstGeom>
          <a:solidFill>
            <a:schemeClr val="bg2"/>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Why GreenTrail is rethinking promotions</a:t>
            </a:r>
            <a:endParaRPr lang="en-US" sz="3400" dirty="0"/>
          </a:p>
        </p:txBody>
      </p:sp>
      <p:sp>
        <p:nvSpPr>
          <p:cNvPr id="3" name="Situation text"/>
          <p:cNvSpPr txBox="1"/>
          <p:nvPr/>
        </p:nvSpPr>
        <p:spPr>
          <a:xfrm>
            <a:off x="548640" y="1600200"/>
            <a:ext cx="5394960" cy="3566160"/>
          </a:xfrm>
          <a:prstGeom prst="rect">
            <a:avLst/>
          </a:prstGeom>
          <a:noFill/>
          <a:ln/>
        </p:spPr>
        <p:txBody>
          <a:bodyPr wrap="square" lIns="0" tIns="0" rIns="0" bIns="0" rtlCol="0" anchor="t"/>
          <a:lstStyle/>
          <a:p>
            <a:pPr indent="0" marL="0">
              <a:spcAft>
                <a:spcPts val="1400"/>
              </a:spcAft>
              <a:buNone/>
            </a:pPr>
            <a:r>
              <a:rPr lang="en-US" sz="2000" dirty="0">
                <a:solidFill>
                  <a:schemeClr val="tx1"/>
                </a:solidFill>
              </a:rPr>
              <a:t>Promotions are how GreenTrail brings shoppers through the door.</a:t>
            </a:r>
            <a:endParaRPr lang="en-US" sz="2000" dirty="0"/>
          </a:p>
          <a:p>
            <a:pPr indent="0" marL="0">
              <a:spcAft>
                <a:spcPts val="1400"/>
              </a:spcAft>
              <a:buNone/>
            </a:pPr>
            <a:r>
              <a:rPr lang="en-US" sz="2000" dirty="0">
                <a:solidFill>
                  <a:schemeClr val="tx1"/>
                </a:solidFill>
              </a:rPr>
              <a:t>They deliver a quick boost, but it is not clear the boost lasts, or that it fits a brand built on sustainability.</a:t>
            </a:r>
            <a:endParaRPr lang="en-US" sz="2000" dirty="0"/>
          </a:p>
          <a:p>
            <a:pPr indent="0" marL="0">
              <a:buNone/>
            </a:pPr>
            <a:r>
              <a:rPr lang="en-US" sz="2000" dirty="0">
                <a:solidFill>
                  <a:schemeClr val="tx1"/>
                </a:solidFill>
              </a:rPr>
              <a:t>We studied 25 stores that ran a promotion between April and August 2023: what worked, where, and what to test next.</a:t>
            </a:r>
            <a:endParaRPr lang="en-US" sz="2000" dirty="0"/>
          </a:p>
        </p:txBody>
      </p:sp>
      <p:sp>
        <p:nvSpPr>
          <p:cNvPr id="4" name="Stat card 1"/>
          <p:cNvSpPr/>
          <p:nvPr/>
        </p:nvSpPr>
        <p:spPr>
          <a:xfrm>
            <a:off x="6400800" y="1554480"/>
            <a:ext cx="2514600" cy="1737360"/>
          </a:xfrm>
          <a:prstGeom prst="roundRect">
            <a:avLst>
              <a:gd name="adj" fmla="val 6316"/>
            </a:avLst>
          </a:prstGeom>
          <a:solidFill>
            <a:schemeClr val="bg2"/>
          </a:solidFill>
          <a:ln/>
        </p:spPr>
      </p:sp>
      <p:sp>
        <p:nvSpPr>
          <p:cNvPr id="5" name="Stat 1"/>
          <p:cNvSpPr txBox="1"/>
          <p:nvPr/>
        </p:nvSpPr>
        <p:spPr>
          <a:xfrm>
            <a:off x="6629400" y="1737360"/>
            <a:ext cx="2103120" cy="731520"/>
          </a:xfrm>
          <a:prstGeom prst="rect">
            <a:avLst/>
          </a:prstGeom>
          <a:noFill/>
          <a:ln/>
        </p:spPr>
        <p:txBody>
          <a:bodyPr wrap="square" lIns="0" tIns="0" rIns="0" bIns="0" rtlCol="0" anchor="ctr"/>
          <a:lstStyle/>
          <a:p>
            <a:pPr indent="0" marL="0">
              <a:buNone/>
            </a:pPr>
            <a:r>
              <a:rPr lang="en-US" sz="4400" b="1" dirty="0">
                <a:solidFill>
                  <a:schemeClr val="accent1"/>
                </a:solidFill>
              </a:rPr>
              <a:t>25</a:t>
            </a:r>
            <a:endParaRPr lang="en-US" sz="4400" dirty="0"/>
          </a:p>
        </p:txBody>
      </p:sp>
      <p:sp>
        <p:nvSpPr>
          <p:cNvPr id="6" name="Stat label 1"/>
          <p:cNvSpPr txBox="1"/>
          <p:nvPr/>
        </p:nvSpPr>
        <p:spPr>
          <a:xfrm>
            <a:off x="6629400" y="2468880"/>
            <a:ext cx="2103120" cy="731520"/>
          </a:xfrm>
          <a:prstGeom prst="rect">
            <a:avLst/>
          </a:prstGeom>
          <a:noFill/>
          <a:ln/>
        </p:spPr>
        <p:txBody>
          <a:bodyPr wrap="square" lIns="0" tIns="0" rIns="0" bIns="0" rtlCol="0" anchor="t"/>
          <a:lstStyle/>
          <a:p>
            <a:pPr indent="0" marL="0">
              <a:buNone/>
            </a:pPr>
            <a:r>
              <a:rPr lang="en-US" sz="1400" dirty="0">
                <a:solidFill>
                  <a:schemeClr val="tx1"/>
                </a:solidFill>
              </a:rPr>
              <a:t>stores analysed</a:t>
            </a:r>
            <a:endParaRPr lang="en-US" sz="1400" dirty="0"/>
          </a:p>
        </p:txBody>
      </p:sp>
      <p:sp>
        <p:nvSpPr>
          <p:cNvPr id="7" name="Stat card 2"/>
          <p:cNvSpPr/>
          <p:nvPr/>
        </p:nvSpPr>
        <p:spPr>
          <a:xfrm>
            <a:off x="9098280" y="1554480"/>
            <a:ext cx="2514600" cy="1737360"/>
          </a:xfrm>
          <a:prstGeom prst="roundRect">
            <a:avLst>
              <a:gd name="adj" fmla="val 6316"/>
            </a:avLst>
          </a:prstGeom>
          <a:solidFill>
            <a:schemeClr val="bg2"/>
          </a:solidFill>
          <a:ln/>
        </p:spPr>
      </p:sp>
      <p:sp>
        <p:nvSpPr>
          <p:cNvPr id="8" name="Stat 2"/>
          <p:cNvSpPr txBox="1"/>
          <p:nvPr/>
        </p:nvSpPr>
        <p:spPr>
          <a:xfrm>
            <a:off x="9326880" y="1737360"/>
            <a:ext cx="2103120" cy="731520"/>
          </a:xfrm>
          <a:prstGeom prst="rect">
            <a:avLst/>
          </a:prstGeom>
          <a:noFill/>
          <a:ln/>
        </p:spPr>
        <p:txBody>
          <a:bodyPr wrap="square" lIns="0" tIns="0" rIns="0" bIns="0" rtlCol="0" anchor="ctr"/>
          <a:lstStyle/>
          <a:p>
            <a:pPr indent="0" marL="0">
              <a:buNone/>
            </a:pPr>
            <a:r>
              <a:rPr lang="en-US" sz="4400" b="1" dirty="0">
                <a:solidFill>
                  <a:schemeClr val="accent1"/>
                </a:solidFill>
              </a:rPr>
              <a:t>3</a:t>
            </a:r>
            <a:endParaRPr lang="en-US" sz="4400" dirty="0"/>
          </a:p>
        </p:txBody>
      </p:sp>
      <p:sp>
        <p:nvSpPr>
          <p:cNvPr id="9" name="Stat label 2"/>
          <p:cNvSpPr txBox="1"/>
          <p:nvPr/>
        </p:nvSpPr>
        <p:spPr>
          <a:xfrm>
            <a:off x="9326880" y="2468880"/>
            <a:ext cx="2103120" cy="731520"/>
          </a:xfrm>
          <a:prstGeom prst="rect">
            <a:avLst/>
          </a:prstGeom>
          <a:noFill/>
          <a:ln/>
        </p:spPr>
        <p:txBody>
          <a:bodyPr wrap="square" lIns="0" tIns="0" rIns="0" bIns="0" rtlCol="0" anchor="t"/>
          <a:lstStyle/>
          <a:p>
            <a:pPr indent="0" marL="0">
              <a:buNone/>
            </a:pPr>
            <a:r>
              <a:rPr lang="en-US" sz="1400" dirty="0">
                <a:solidFill>
                  <a:schemeClr val="tx1"/>
                </a:solidFill>
              </a:rPr>
              <a:t>promotion types: BOGO, discount, special event</a:t>
            </a:r>
            <a:endParaRPr lang="en-US" sz="1400" dirty="0"/>
          </a:p>
        </p:txBody>
      </p:sp>
      <p:sp>
        <p:nvSpPr>
          <p:cNvPr id="10" name="Stat card 3"/>
          <p:cNvSpPr/>
          <p:nvPr/>
        </p:nvSpPr>
        <p:spPr>
          <a:xfrm>
            <a:off x="6400800" y="3474720"/>
            <a:ext cx="2514600" cy="1737360"/>
          </a:xfrm>
          <a:prstGeom prst="roundRect">
            <a:avLst>
              <a:gd name="adj" fmla="val 6316"/>
            </a:avLst>
          </a:prstGeom>
          <a:solidFill>
            <a:schemeClr val="bg2"/>
          </a:solidFill>
          <a:ln/>
        </p:spPr>
      </p:sp>
      <p:sp>
        <p:nvSpPr>
          <p:cNvPr id="11" name="Stat 3"/>
          <p:cNvSpPr txBox="1"/>
          <p:nvPr/>
        </p:nvSpPr>
        <p:spPr>
          <a:xfrm>
            <a:off x="6629400" y="3657600"/>
            <a:ext cx="2103120" cy="731520"/>
          </a:xfrm>
          <a:prstGeom prst="rect">
            <a:avLst/>
          </a:prstGeom>
          <a:noFill/>
          <a:ln/>
        </p:spPr>
        <p:txBody>
          <a:bodyPr wrap="square" lIns="0" tIns="0" rIns="0" bIns="0" rtlCol="0" anchor="ctr"/>
          <a:lstStyle/>
          <a:p>
            <a:pPr indent="0" marL="0">
              <a:buNone/>
            </a:pPr>
            <a:r>
              <a:rPr lang="en-US" sz="4400" b="1" dirty="0">
                <a:solidFill>
                  <a:schemeClr val="accent1"/>
                </a:solidFill>
              </a:rPr>
              <a:t>2</a:t>
            </a:r>
            <a:endParaRPr lang="en-US" sz="4400" dirty="0"/>
          </a:p>
        </p:txBody>
      </p:sp>
      <p:sp>
        <p:nvSpPr>
          <p:cNvPr id="12" name="Stat label 3"/>
          <p:cNvSpPr txBox="1"/>
          <p:nvPr/>
        </p:nvSpPr>
        <p:spPr>
          <a:xfrm>
            <a:off x="6629400" y="4389120"/>
            <a:ext cx="2103120" cy="731520"/>
          </a:xfrm>
          <a:prstGeom prst="rect">
            <a:avLst/>
          </a:prstGeom>
          <a:noFill/>
          <a:ln/>
        </p:spPr>
        <p:txBody>
          <a:bodyPr wrap="square" lIns="0" tIns="0" rIns="0" bIns="0" rtlCol="0" anchor="t"/>
          <a:lstStyle/>
          <a:p>
            <a:pPr indent="0" marL="0">
              <a:buNone/>
            </a:pPr>
            <a:r>
              <a:rPr lang="en-US" sz="1400" dirty="0">
                <a:solidFill>
                  <a:schemeClr val="tx1"/>
                </a:solidFill>
              </a:rPr>
              <a:t>store formats: urban and suburban</a:t>
            </a:r>
            <a:endParaRPr lang="en-US" sz="1400" dirty="0"/>
          </a:p>
        </p:txBody>
      </p:sp>
      <p:sp>
        <p:nvSpPr>
          <p:cNvPr id="13" name="Stat card 4"/>
          <p:cNvSpPr/>
          <p:nvPr/>
        </p:nvSpPr>
        <p:spPr>
          <a:xfrm>
            <a:off x="9098280" y="3474720"/>
            <a:ext cx="2514600" cy="1737360"/>
          </a:xfrm>
          <a:prstGeom prst="roundRect">
            <a:avLst>
              <a:gd name="adj" fmla="val 6316"/>
            </a:avLst>
          </a:prstGeom>
          <a:solidFill>
            <a:schemeClr val="bg2"/>
          </a:solidFill>
          <a:ln/>
        </p:spPr>
      </p:sp>
      <p:sp>
        <p:nvSpPr>
          <p:cNvPr id="14" name="Stat 4"/>
          <p:cNvSpPr txBox="1"/>
          <p:nvPr/>
        </p:nvSpPr>
        <p:spPr>
          <a:xfrm>
            <a:off x="9326880" y="3657600"/>
            <a:ext cx="2103120" cy="731520"/>
          </a:xfrm>
          <a:prstGeom prst="rect">
            <a:avLst/>
          </a:prstGeom>
          <a:noFill/>
          <a:ln/>
        </p:spPr>
        <p:txBody>
          <a:bodyPr wrap="square" lIns="0" tIns="0" rIns="0" bIns="0" rtlCol="0" anchor="ctr"/>
          <a:lstStyle/>
          <a:p>
            <a:pPr indent="0" marL="0">
              <a:buNone/>
            </a:pPr>
            <a:r>
              <a:rPr lang="en-US" sz="3600" b="1" dirty="0">
                <a:solidFill>
                  <a:schemeClr val="accent1"/>
                </a:solidFill>
              </a:rPr>
              <a:t>2 weeks</a:t>
            </a:r>
            <a:endParaRPr lang="en-US" sz="3600" dirty="0"/>
          </a:p>
        </p:txBody>
      </p:sp>
      <p:sp>
        <p:nvSpPr>
          <p:cNvPr id="15" name="Stat label 4"/>
          <p:cNvSpPr txBox="1"/>
          <p:nvPr/>
        </p:nvSpPr>
        <p:spPr>
          <a:xfrm>
            <a:off x="9326880" y="4389120"/>
            <a:ext cx="2103120" cy="731520"/>
          </a:xfrm>
          <a:prstGeom prst="rect">
            <a:avLst/>
          </a:prstGeom>
          <a:noFill/>
          <a:ln/>
        </p:spPr>
        <p:txBody>
          <a:bodyPr wrap="square" lIns="0" tIns="0" rIns="0" bIns="0" rtlCol="0" anchor="t"/>
          <a:lstStyle/>
          <a:p>
            <a:pPr indent="0" marL="0">
              <a:buNone/>
            </a:pPr>
            <a:r>
              <a:rPr lang="en-US" sz="1400" dirty="0">
                <a:solidFill>
                  <a:schemeClr val="tx1"/>
                </a:solidFill>
              </a:rPr>
              <a:t>typical promotion length (14 to 15 days)</a:t>
            </a:r>
            <a:endParaRPr lang="en-US" sz="1400" dirty="0"/>
          </a:p>
        </p:txBody>
      </p:sp>
      <p:sp>
        <p:nvSpPr>
          <p:cNvPr id="16" name="Question banner"/>
          <p:cNvSpPr/>
          <p:nvPr/>
        </p:nvSpPr>
        <p:spPr>
          <a:xfrm>
            <a:off x="548640" y="5486400"/>
            <a:ext cx="11091672" cy="731520"/>
          </a:xfrm>
          <a:prstGeom prst="roundRect">
            <a:avLst>
              <a:gd name="adj" fmla="val 15000"/>
            </a:avLst>
          </a:prstGeom>
          <a:solidFill>
            <a:schemeClr val="tx2"/>
          </a:solidFill>
          <a:ln/>
        </p:spPr>
      </p:sp>
      <p:sp>
        <p:nvSpPr>
          <p:cNvPr id="17" name="Question text"/>
          <p:cNvSpPr txBox="1"/>
          <p:nvPr/>
        </p:nvSpPr>
        <p:spPr>
          <a:xfrm>
            <a:off x="822960" y="5486400"/>
            <a:ext cx="10607040" cy="731520"/>
          </a:xfrm>
          <a:prstGeom prst="rect">
            <a:avLst/>
          </a:prstGeom>
          <a:noFill/>
          <a:ln/>
        </p:spPr>
        <p:txBody>
          <a:bodyPr wrap="square" lIns="0" tIns="0" rIns="0" bIns="0" rtlCol="0" anchor="ctr"/>
          <a:lstStyle/>
          <a:p>
            <a:pPr indent="0" marL="0">
              <a:buNone/>
            </a:pPr>
            <a:r>
              <a:rPr lang="en-US" sz="2000" b="1" dirty="0">
                <a:solidFill>
                  <a:schemeClr val="bg1"/>
                </a:solidFill>
              </a:rPr>
              <a:t>Our question: which promotions create lasting value, for sales and for the brand?</a:t>
            </a:r>
            <a:endParaRPr lang="en-US" sz="2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Sales jump 35%, then mostly fade</a:t>
            </a:r>
            <a:endParaRPr lang="en-US" sz="3400" dirty="0"/>
          </a:p>
        </p:txBody>
      </p:sp>
      <p:graphicFrame>
        <p:nvGraphicFramePr>
          <p:cNvPr id="3" name="Weekly sales chart" descr=""/>
          <p:cNvGraphicFramePr/>
          <p:nvPr/>
        </p:nvGraphicFramePr>
        <p:xfrm>
          <a:off x="548640" y="1463040"/>
          <a:ext cx="6583680" cy="4343400"/>
        </p:xfrm>
        <a:graphic xmlns:a="http://schemas.openxmlformats.org/drawingml/2006/main">
          <a:graphicData uri="http://schemas.openxmlformats.org/drawingml/2006/chart">
            <c:chart xmlns:c="http://schemas.openxmlformats.org/drawingml/2006/chart" r:id="rId1"/>
          </a:graphicData>
        </a:graphic>
      </p:graphicFrame>
      <p:sp>
        <p:nvSpPr>
          <p:cNvPr id="4" name="Callout card 1"/>
          <p:cNvSpPr/>
          <p:nvPr/>
        </p:nvSpPr>
        <p:spPr>
          <a:xfrm>
            <a:off x="7589520" y="1463040"/>
            <a:ext cx="4050792" cy="1325880"/>
          </a:xfrm>
          <a:prstGeom prst="roundRect">
            <a:avLst>
              <a:gd name="adj" fmla="val 8276"/>
            </a:avLst>
          </a:prstGeom>
          <a:solidFill>
            <a:schemeClr val="bg2"/>
          </a:solidFill>
          <a:ln/>
        </p:spPr>
      </p:sp>
      <p:sp>
        <p:nvSpPr>
          <p:cNvPr id="5" name="Callout 1"/>
          <p:cNvSpPr txBox="1"/>
          <p:nvPr/>
        </p:nvSpPr>
        <p:spPr>
          <a:xfrm>
            <a:off x="7818120" y="1554480"/>
            <a:ext cx="1783080" cy="1143000"/>
          </a:xfrm>
          <a:prstGeom prst="rect">
            <a:avLst/>
          </a:prstGeom>
          <a:noFill/>
          <a:ln/>
        </p:spPr>
        <p:txBody>
          <a:bodyPr wrap="square" lIns="0" tIns="0" rIns="0" bIns="0" rtlCol="0" anchor="ctr"/>
          <a:lstStyle/>
          <a:p>
            <a:pPr indent="0" marL="0">
              <a:buNone/>
            </a:pPr>
            <a:r>
              <a:rPr lang="en-US" sz="3600" b="1" dirty="0">
                <a:solidFill>
                  <a:schemeClr val="accent1"/>
                </a:solidFill>
              </a:rPr>
              <a:t>+35.2%</a:t>
            </a:r>
            <a:endParaRPr lang="en-US" sz="3600" dirty="0"/>
          </a:p>
        </p:txBody>
      </p:sp>
      <p:sp>
        <p:nvSpPr>
          <p:cNvPr id="6" name="Callout label 1"/>
          <p:cNvSpPr txBox="1"/>
          <p:nvPr/>
        </p:nvSpPr>
        <p:spPr>
          <a:xfrm>
            <a:off x="9646920" y="1554480"/>
            <a:ext cx="1828800" cy="1143000"/>
          </a:xfrm>
          <a:prstGeom prst="rect">
            <a:avLst/>
          </a:prstGeom>
          <a:noFill/>
          <a:ln/>
        </p:spPr>
        <p:txBody>
          <a:bodyPr wrap="square" lIns="0" tIns="0" rIns="0" bIns="0" rtlCol="0" anchor="ctr"/>
          <a:lstStyle/>
          <a:p>
            <a:pPr indent="0" marL="0">
              <a:buNone/>
            </a:pPr>
            <a:r>
              <a:rPr lang="en-US" sz="1400" dirty="0">
                <a:solidFill>
                  <a:schemeClr val="tx1"/>
                </a:solidFill>
              </a:rPr>
              <a:t>average sales lift during the promotion</a:t>
            </a:r>
            <a:endParaRPr lang="en-US" sz="1400" dirty="0"/>
          </a:p>
        </p:txBody>
      </p:sp>
      <p:sp>
        <p:nvSpPr>
          <p:cNvPr id="7" name="Callout card 2"/>
          <p:cNvSpPr/>
          <p:nvPr/>
        </p:nvSpPr>
        <p:spPr>
          <a:xfrm>
            <a:off x="7589520" y="2944368"/>
            <a:ext cx="4050792" cy="1325880"/>
          </a:xfrm>
          <a:prstGeom prst="roundRect">
            <a:avLst>
              <a:gd name="adj" fmla="val 8276"/>
            </a:avLst>
          </a:prstGeom>
          <a:solidFill>
            <a:schemeClr val="bg2"/>
          </a:solidFill>
          <a:ln/>
        </p:spPr>
      </p:sp>
      <p:sp>
        <p:nvSpPr>
          <p:cNvPr id="8" name="Callout 2"/>
          <p:cNvSpPr txBox="1"/>
          <p:nvPr/>
        </p:nvSpPr>
        <p:spPr>
          <a:xfrm>
            <a:off x="7818120" y="3035808"/>
            <a:ext cx="1783080" cy="1143000"/>
          </a:xfrm>
          <a:prstGeom prst="rect">
            <a:avLst/>
          </a:prstGeom>
          <a:noFill/>
          <a:ln/>
        </p:spPr>
        <p:txBody>
          <a:bodyPr wrap="square" lIns="0" tIns="0" rIns="0" bIns="0" rtlCol="0" anchor="ctr"/>
          <a:lstStyle/>
          <a:p>
            <a:pPr indent="0" marL="0">
              <a:buNone/>
            </a:pPr>
            <a:r>
              <a:rPr lang="en-US" sz="3600" b="1" dirty="0">
                <a:solidFill>
                  <a:schemeClr val="accent2"/>
                </a:solidFill>
              </a:rPr>
              <a:t>+4.6%</a:t>
            </a:r>
            <a:endParaRPr lang="en-US" sz="3600" dirty="0"/>
          </a:p>
        </p:txBody>
      </p:sp>
      <p:sp>
        <p:nvSpPr>
          <p:cNvPr id="9" name="Callout label 2"/>
          <p:cNvSpPr txBox="1"/>
          <p:nvPr/>
        </p:nvSpPr>
        <p:spPr>
          <a:xfrm>
            <a:off x="9646920" y="3035808"/>
            <a:ext cx="1828800" cy="1143000"/>
          </a:xfrm>
          <a:prstGeom prst="rect">
            <a:avLst/>
          </a:prstGeom>
          <a:noFill/>
          <a:ln/>
        </p:spPr>
        <p:txBody>
          <a:bodyPr wrap="square" lIns="0" tIns="0" rIns="0" bIns="0" rtlCol="0" anchor="ctr"/>
          <a:lstStyle/>
          <a:p>
            <a:pPr indent="0" marL="0">
              <a:buNone/>
            </a:pPr>
            <a:r>
              <a:rPr lang="en-US" sz="1400" dirty="0">
                <a:solidFill>
                  <a:schemeClr val="tx1"/>
                </a:solidFill>
              </a:rPr>
              <a:t>lift still there after it ends</a:t>
            </a:r>
            <a:endParaRPr lang="en-US" sz="1400" dirty="0"/>
          </a:p>
        </p:txBody>
      </p:sp>
      <p:sp>
        <p:nvSpPr>
          <p:cNvPr id="10" name="Callout card 3"/>
          <p:cNvSpPr/>
          <p:nvPr/>
        </p:nvSpPr>
        <p:spPr>
          <a:xfrm>
            <a:off x="7589520" y="4425696"/>
            <a:ext cx="4050792" cy="1325880"/>
          </a:xfrm>
          <a:prstGeom prst="roundRect">
            <a:avLst>
              <a:gd name="adj" fmla="val 8276"/>
            </a:avLst>
          </a:prstGeom>
          <a:solidFill>
            <a:schemeClr val="bg2"/>
          </a:solidFill>
          <a:ln/>
        </p:spPr>
      </p:sp>
      <p:sp>
        <p:nvSpPr>
          <p:cNvPr id="11" name="Callout 3"/>
          <p:cNvSpPr txBox="1"/>
          <p:nvPr/>
        </p:nvSpPr>
        <p:spPr>
          <a:xfrm>
            <a:off x="7818120" y="4517136"/>
            <a:ext cx="1783080" cy="1143000"/>
          </a:xfrm>
          <a:prstGeom prst="rect">
            <a:avLst/>
          </a:prstGeom>
          <a:noFill/>
          <a:ln/>
        </p:spPr>
        <p:txBody>
          <a:bodyPr wrap="square" lIns="0" tIns="0" rIns="0" bIns="0" rtlCol="0" anchor="ctr"/>
          <a:lstStyle/>
          <a:p>
            <a:pPr indent="0" marL="0">
              <a:buNone/>
            </a:pPr>
            <a:r>
              <a:rPr lang="en-US" sz="3600" b="1" dirty="0">
                <a:solidFill>
                  <a:schemeClr val="tx2"/>
                </a:solidFill>
              </a:rPr>
              <a:t>13%</a:t>
            </a:r>
            <a:endParaRPr lang="en-US" sz="3600" dirty="0"/>
          </a:p>
        </p:txBody>
      </p:sp>
      <p:sp>
        <p:nvSpPr>
          <p:cNvPr id="12" name="Callout label 3"/>
          <p:cNvSpPr txBox="1"/>
          <p:nvPr/>
        </p:nvSpPr>
        <p:spPr>
          <a:xfrm>
            <a:off x="9646920" y="4517136"/>
            <a:ext cx="1828800" cy="1143000"/>
          </a:xfrm>
          <a:prstGeom prst="rect">
            <a:avLst/>
          </a:prstGeom>
          <a:noFill/>
          <a:ln/>
        </p:spPr>
        <p:txBody>
          <a:bodyPr wrap="square" lIns="0" tIns="0" rIns="0" bIns="0" rtlCol="0" anchor="ctr"/>
          <a:lstStyle/>
          <a:p>
            <a:pPr indent="0" marL="0">
              <a:buNone/>
            </a:pPr>
            <a:r>
              <a:rPr lang="en-US" sz="1400" dirty="0">
                <a:solidFill>
                  <a:schemeClr val="tx1"/>
                </a:solidFill>
              </a:rPr>
              <a:t>of the lift remains afterwards (4.6 out of 35.2)</a:t>
            </a:r>
            <a:endParaRPr lang="en-US" sz="1400" dirty="0"/>
          </a:p>
        </p:txBody>
      </p:sp>
      <p:sp>
        <p:nvSpPr>
          <p:cNvPr id="13" name="Source note"/>
          <p:cNvSpPr txBox="1"/>
          <p:nvPr/>
        </p:nvSpPr>
        <p:spPr>
          <a:xfrm>
            <a:off x="548640" y="5943600"/>
            <a:ext cx="6583680" cy="274320"/>
          </a:xfrm>
          <a:prstGeom prst="rect">
            <a:avLst/>
          </a:prstGeom>
          <a:noFill/>
          <a:ln/>
        </p:spPr>
        <p:txBody>
          <a:bodyPr wrap="square" lIns="0" tIns="0" rIns="0" bIns="0" rtlCol="0" anchor="t"/>
          <a:lstStyle/>
          <a:p>
            <a:pPr indent="0" marL="0">
              <a:buNone/>
            </a:pPr>
            <a:r>
              <a:rPr lang="en-US" sz="1100" dirty="0">
                <a:solidFill>
                  <a:schemeClr val="accent6"/>
                </a:solidFill>
              </a:rPr>
              <a:t>Store-level % change vs. the pre-promotion week, averaged across 25 stores.</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Footfall is the engine of the lift</a:t>
            </a:r>
            <a:endParaRPr lang="en-US" sz="3400" dirty="0"/>
          </a:p>
        </p:txBody>
      </p:sp>
      <p:graphicFrame>
        <p:nvGraphicFramePr>
          <p:cNvPr id="3" name="Sales vs visits chart" descr=""/>
          <p:cNvGraphicFramePr/>
          <p:nvPr/>
        </p:nvGraphicFramePr>
        <p:xfrm>
          <a:off x="548640" y="1463040"/>
          <a:ext cx="6309360" cy="4434840"/>
        </p:xfrm>
        <a:graphic xmlns:a="http://schemas.openxmlformats.org/drawingml/2006/main">
          <a:graphicData uri="http://schemas.openxmlformats.org/drawingml/2006/chart">
            <c:chart xmlns:c="http://schemas.openxmlformats.org/drawingml/2006/chart" r:id="rId1"/>
          </a:graphicData>
        </a:graphic>
      </p:graphicFrame>
      <p:sp>
        <p:nvSpPr>
          <p:cNvPr id="4" name="Correlation card"/>
          <p:cNvSpPr/>
          <p:nvPr/>
        </p:nvSpPr>
        <p:spPr>
          <a:xfrm>
            <a:off x="7315200" y="1463040"/>
            <a:ext cx="4325112" cy="1600200"/>
          </a:xfrm>
          <a:prstGeom prst="roundRect">
            <a:avLst>
              <a:gd name="adj" fmla="val 6857"/>
            </a:avLst>
          </a:prstGeom>
          <a:solidFill>
            <a:schemeClr val="bg2"/>
          </a:solidFill>
          <a:ln/>
        </p:spPr>
      </p:sp>
      <p:sp>
        <p:nvSpPr>
          <p:cNvPr id="5" name="Correlation value"/>
          <p:cNvSpPr txBox="1"/>
          <p:nvPr/>
        </p:nvSpPr>
        <p:spPr>
          <a:xfrm>
            <a:off x="7543800" y="1554480"/>
            <a:ext cx="1463040" cy="1417320"/>
          </a:xfrm>
          <a:prstGeom prst="rect">
            <a:avLst/>
          </a:prstGeom>
          <a:noFill/>
          <a:ln/>
        </p:spPr>
        <p:txBody>
          <a:bodyPr wrap="square" lIns="0" tIns="0" rIns="0" bIns="0" rtlCol="0" anchor="ctr"/>
          <a:lstStyle/>
          <a:p>
            <a:pPr indent="0" marL="0">
              <a:buNone/>
            </a:pPr>
            <a:r>
              <a:rPr lang="en-US" sz="4000" b="1" dirty="0">
                <a:solidFill>
                  <a:schemeClr val="accent1"/>
                </a:solidFill>
              </a:rPr>
              <a:t>0.85</a:t>
            </a:r>
            <a:endParaRPr lang="en-US" sz="4000" dirty="0"/>
          </a:p>
        </p:txBody>
      </p:sp>
      <p:sp>
        <p:nvSpPr>
          <p:cNvPr id="6" name="Correlation label"/>
          <p:cNvSpPr txBox="1"/>
          <p:nvPr/>
        </p:nvSpPr>
        <p:spPr>
          <a:xfrm>
            <a:off x="9052560" y="1554480"/>
            <a:ext cx="2423160" cy="1417320"/>
          </a:xfrm>
          <a:prstGeom prst="rect">
            <a:avLst/>
          </a:prstGeom>
          <a:noFill/>
          <a:ln/>
        </p:spPr>
        <p:txBody>
          <a:bodyPr wrap="square" lIns="0" tIns="0" rIns="0" bIns="0" rtlCol="0" anchor="ctr"/>
          <a:lstStyle/>
          <a:p>
            <a:pPr indent="0" marL="0">
              <a:buNone/>
            </a:pPr>
            <a:r>
              <a:rPr lang="en-US" sz="1400" dirty="0">
                <a:solidFill>
                  <a:schemeClr val="tx1"/>
                </a:solidFill>
              </a:rPr>
              <a:t>Stores with bigger visit gains saw bigger sales gains (correlation across 25 stores)</a:t>
            </a:r>
            <a:endParaRPr lang="en-US" sz="1400" dirty="0"/>
          </a:p>
        </p:txBody>
      </p:sp>
      <p:sp>
        <p:nvSpPr>
          <p:cNvPr id="7" name="Spend per visit card"/>
          <p:cNvSpPr/>
          <p:nvPr/>
        </p:nvSpPr>
        <p:spPr>
          <a:xfrm>
            <a:off x="7315200" y="3246120"/>
            <a:ext cx="4325112" cy="1417320"/>
          </a:xfrm>
          <a:prstGeom prst="roundRect">
            <a:avLst>
              <a:gd name="adj" fmla="val 7742"/>
            </a:avLst>
          </a:prstGeom>
          <a:solidFill>
            <a:schemeClr val="bg2"/>
          </a:solidFill>
          <a:ln/>
        </p:spPr>
      </p:sp>
      <p:sp>
        <p:nvSpPr>
          <p:cNvPr id="8" name="Spend heading"/>
          <p:cNvSpPr txBox="1"/>
          <p:nvPr/>
        </p:nvSpPr>
        <p:spPr>
          <a:xfrm>
            <a:off x="7543800" y="3337560"/>
            <a:ext cx="3840480" cy="320040"/>
          </a:xfrm>
          <a:prstGeom prst="rect">
            <a:avLst/>
          </a:prstGeom>
          <a:noFill/>
          <a:ln/>
        </p:spPr>
        <p:txBody>
          <a:bodyPr wrap="square" lIns="0" tIns="0" rIns="0" bIns="0" rtlCol="0" anchor="t"/>
          <a:lstStyle/>
          <a:p>
            <a:pPr indent="0" marL="0">
              <a:buNone/>
            </a:pPr>
            <a:r>
              <a:rPr lang="en-US" sz="1400" b="1" dirty="0">
                <a:solidFill>
                  <a:schemeClr val="tx2"/>
                </a:solidFill>
              </a:rPr>
              <a:t>Spend per visit*</a:t>
            </a:r>
            <a:endParaRPr lang="en-US" sz="1400" dirty="0"/>
          </a:p>
        </p:txBody>
      </p:sp>
      <p:sp>
        <p:nvSpPr>
          <p:cNvPr id="9" name="Spend values"/>
          <p:cNvSpPr txBox="1"/>
          <p:nvPr/>
        </p:nvSpPr>
        <p:spPr>
          <a:xfrm>
            <a:off x="7543800" y="3657600"/>
            <a:ext cx="3931920" cy="548640"/>
          </a:xfrm>
          <a:prstGeom prst="rect">
            <a:avLst/>
          </a:prstGeom>
          <a:noFill/>
          <a:ln/>
        </p:spPr>
        <p:txBody>
          <a:bodyPr wrap="square" lIns="0" tIns="0" rIns="0" bIns="0" rtlCol="0" anchor="ctr"/>
          <a:lstStyle/>
          <a:p>
            <a:pPr indent="0" marL="0">
              <a:buNone/>
            </a:pPr>
            <a:r>
              <a:rPr lang="en-US" sz="2600" b="1" dirty="0">
                <a:solidFill>
                  <a:schemeClr val="accent6"/>
                </a:solidFill>
              </a:rPr>
              <a:t>$14.72</a:t>
            </a:r>
            <a:pPr indent="0" marL="0">
              <a:buNone/>
            </a:pPr>
            <a:r>
              <a:rPr lang="en-US" sz="1600" b="1" dirty="0">
                <a:solidFill>
                  <a:schemeClr val="accent6"/>
                </a:solidFill>
              </a:rPr>
              <a:t>  to  </a:t>
            </a:r>
            <a:pPr indent="0" marL="0">
              <a:buNone/>
            </a:pPr>
            <a:r>
              <a:rPr lang="en-US" sz="2600" b="1" dirty="0">
                <a:solidFill>
                  <a:schemeClr val="accent1"/>
                </a:solidFill>
              </a:rPr>
              <a:t>$15.80</a:t>
            </a:r>
            <a:pPr indent="0" marL="0">
              <a:buNone/>
            </a:pPr>
            <a:r>
              <a:rPr lang="en-US" sz="1600" b="1" dirty="0">
                <a:solidFill>
                  <a:schemeClr val="accent6"/>
                </a:solidFill>
              </a:rPr>
              <a:t>  to  </a:t>
            </a:r>
            <a:pPr indent="0" marL="0">
              <a:buNone/>
            </a:pPr>
            <a:r>
              <a:rPr lang="en-US" sz="2600" b="1" dirty="0">
                <a:solidFill>
                  <a:schemeClr val="accent2"/>
                </a:solidFill>
              </a:rPr>
              <a:t>$14.38</a:t>
            </a:r>
            <a:endParaRPr lang="en-US" sz="2600" dirty="0"/>
          </a:p>
        </p:txBody>
      </p:sp>
      <p:sp>
        <p:nvSpPr>
          <p:cNvPr id="10" name="Spend axis"/>
          <p:cNvSpPr txBox="1"/>
          <p:nvPr/>
        </p:nvSpPr>
        <p:spPr>
          <a:xfrm>
            <a:off x="7543800" y="4224528"/>
            <a:ext cx="3931920" cy="320040"/>
          </a:xfrm>
          <a:prstGeom prst="rect">
            <a:avLst/>
          </a:prstGeom>
          <a:noFill/>
          <a:ln/>
        </p:spPr>
        <p:txBody>
          <a:bodyPr wrap="square" lIns="0" tIns="0" rIns="0" bIns="0" rtlCol="0" anchor="t"/>
          <a:lstStyle/>
          <a:p>
            <a:pPr indent="0" marL="0">
              <a:buNone/>
            </a:pPr>
            <a:r>
              <a:rPr lang="en-US" sz="1200" dirty="0">
                <a:solidFill>
                  <a:schemeClr val="accent6"/>
                </a:solidFill>
              </a:rPr>
              <a:t>before   |   during   |   after</a:t>
            </a:r>
            <a:endParaRPr lang="en-US" sz="1200" dirty="0"/>
          </a:p>
        </p:txBody>
      </p:sp>
      <p:sp>
        <p:nvSpPr>
          <p:cNvPr id="11" name="Takeaway"/>
          <p:cNvSpPr txBox="1"/>
          <p:nvPr/>
        </p:nvSpPr>
        <p:spPr>
          <a:xfrm>
            <a:off x="7315200" y="4892040"/>
            <a:ext cx="4325112" cy="1005840"/>
          </a:xfrm>
          <a:prstGeom prst="rect">
            <a:avLst/>
          </a:prstGeom>
          <a:noFill/>
          <a:ln/>
        </p:spPr>
        <p:txBody>
          <a:bodyPr wrap="square" lIns="0" tIns="0" rIns="0" bIns="0" rtlCol="0" anchor="t"/>
          <a:lstStyle/>
          <a:p>
            <a:pPr indent="0" marL="0">
              <a:buNone/>
            </a:pPr>
            <a:r>
              <a:rPr lang="en-US" sz="1600" b="1" dirty="0">
                <a:solidFill>
                  <a:schemeClr val="tx2"/>
                </a:solidFill>
              </a:rPr>
              <a:t>Promotions mostly buy footfall. Afterwards visits stay 7% higher, but each visit is worth about 2% less than before.</a:t>
            </a:r>
            <a:endParaRPr lang="en-US" sz="1600" dirty="0"/>
          </a:p>
        </p:txBody>
      </p:sp>
      <p:sp>
        <p:nvSpPr>
          <p:cNvPr id="12" name="Footnote"/>
          <p:cNvSpPr txBox="1"/>
          <p:nvPr/>
        </p:nvSpPr>
        <p:spPr>
          <a:xfrm>
            <a:off x="548640" y="5989320"/>
            <a:ext cx="6583680" cy="274320"/>
          </a:xfrm>
          <a:prstGeom prst="rect">
            <a:avLst/>
          </a:prstGeom>
          <a:noFill/>
          <a:ln/>
        </p:spPr>
        <p:txBody>
          <a:bodyPr wrap="square" lIns="0" tIns="0" rIns="0" bIns="0" rtlCol="0" anchor="t"/>
          <a:lstStyle/>
          <a:p>
            <a:pPr indent="0" marL="0">
              <a:buNone/>
            </a:pPr>
            <a:r>
              <a:rPr lang="en-US" sz="1100" dirty="0">
                <a:solidFill>
                  <a:schemeClr val="accent6"/>
                </a:solidFill>
              </a:rPr>
              <a:t>*Weekly sales divided by (average daily visits x 7), totalled across the 25 stores.</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Not every promotion fades equally</a:t>
            </a:r>
            <a:endParaRPr lang="en-US" sz="3400" dirty="0"/>
          </a:p>
        </p:txBody>
      </p:sp>
      <p:graphicFrame>
        <p:nvGraphicFramePr>
          <p:cNvPr id="3" name="Promotion type chart" descr=""/>
          <p:cNvGraphicFramePr/>
          <p:nvPr/>
        </p:nvGraphicFramePr>
        <p:xfrm>
          <a:off x="548640" y="1463040"/>
          <a:ext cx="6400800" cy="4389120"/>
        </p:xfrm>
        <a:graphic xmlns:a="http://schemas.openxmlformats.org/drawingml/2006/main">
          <a:graphicData uri="http://schemas.openxmlformats.org/drawingml/2006/chart">
            <c:chart xmlns:c="http://schemas.openxmlformats.org/drawingml/2006/chart" r:id="rId1"/>
          </a:graphicData>
        </a:graphic>
      </p:graphicFrame>
      <p:sp>
        <p:nvSpPr>
          <p:cNvPr id="4" name="Right heading"/>
          <p:cNvSpPr txBox="1"/>
          <p:nvPr/>
        </p:nvSpPr>
        <p:spPr>
          <a:xfrm>
            <a:off x="7406640" y="1463040"/>
            <a:ext cx="4233672" cy="548640"/>
          </a:xfrm>
          <a:prstGeom prst="rect">
            <a:avLst/>
          </a:prstGeom>
          <a:noFill/>
          <a:ln/>
        </p:spPr>
        <p:txBody>
          <a:bodyPr wrap="square" lIns="0" tIns="0" rIns="0" bIns="0" rtlCol="0" anchor="t"/>
          <a:lstStyle/>
          <a:p>
            <a:pPr indent="0" marL="0">
              <a:buNone/>
            </a:pPr>
            <a:r>
              <a:rPr lang="en-US" sz="1600" b="1" dirty="0">
                <a:solidFill>
                  <a:schemeClr val="tx2"/>
                </a:solidFill>
              </a:rPr>
              <a:t>Stores that ended below their pre-promotion sales</a:t>
            </a:r>
            <a:endParaRPr lang="en-US" sz="1600" dirty="0"/>
          </a:p>
        </p:txBody>
      </p:sp>
      <p:sp>
        <p:nvSpPr>
          <p:cNvPr id="5" name="Row card 1"/>
          <p:cNvSpPr/>
          <p:nvPr/>
        </p:nvSpPr>
        <p:spPr>
          <a:xfrm>
            <a:off x="7406640" y="2148840"/>
            <a:ext cx="4233672" cy="1005840"/>
          </a:xfrm>
          <a:prstGeom prst="roundRect">
            <a:avLst>
              <a:gd name="adj" fmla="val 10909"/>
            </a:avLst>
          </a:prstGeom>
          <a:solidFill>
            <a:schemeClr val="bg2"/>
          </a:solidFill>
          <a:ln/>
        </p:spPr>
      </p:sp>
      <p:sp>
        <p:nvSpPr>
          <p:cNvPr id="6" name="Row value 1"/>
          <p:cNvSpPr txBox="1"/>
          <p:nvPr/>
        </p:nvSpPr>
        <p:spPr>
          <a:xfrm>
            <a:off x="7635240" y="2194560"/>
            <a:ext cx="1737360" cy="914400"/>
          </a:xfrm>
          <a:prstGeom prst="rect">
            <a:avLst/>
          </a:prstGeom>
          <a:noFill/>
          <a:ln/>
        </p:spPr>
        <p:txBody>
          <a:bodyPr wrap="square" lIns="0" tIns="0" rIns="0" bIns="0" rtlCol="0" anchor="ctr"/>
          <a:lstStyle/>
          <a:p>
            <a:pPr indent="0" marL="0">
              <a:buNone/>
            </a:pPr>
            <a:r>
              <a:rPr lang="en-US" sz="3200" b="1" dirty="0">
                <a:solidFill>
                  <a:schemeClr val="accent1"/>
                </a:solidFill>
              </a:rPr>
              <a:t>0 of 8</a:t>
            </a:r>
            <a:endParaRPr lang="en-US" sz="3200" dirty="0"/>
          </a:p>
        </p:txBody>
      </p:sp>
      <p:sp>
        <p:nvSpPr>
          <p:cNvPr id="7" name="Row label 1"/>
          <p:cNvSpPr txBox="1"/>
          <p:nvPr/>
        </p:nvSpPr>
        <p:spPr>
          <a:xfrm>
            <a:off x="9418320" y="2194560"/>
            <a:ext cx="2103120" cy="914400"/>
          </a:xfrm>
          <a:prstGeom prst="rect">
            <a:avLst/>
          </a:prstGeom>
          <a:noFill/>
          <a:ln/>
        </p:spPr>
        <p:txBody>
          <a:bodyPr wrap="square" lIns="0" tIns="0" rIns="0" bIns="0" rtlCol="0" anchor="ctr"/>
          <a:lstStyle/>
          <a:p>
            <a:pPr indent="0" marL="0">
              <a:buNone/>
            </a:pPr>
            <a:r>
              <a:rPr lang="en-US" sz="1600" dirty="0">
                <a:solidFill>
                  <a:schemeClr val="tx1"/>
                </a:solidFill>
              </a:rPr>
              <a:t>Special event stores</a:t>
            </a:r>
            <a:endParaRPr lang="en-US" sz="1600" dirty="0"/>
          </a:p>
        </p:txBody>
      </p:sp>
      <p:sp>
        <p:nvSpPr>
          <p:cNvPr id="8" name="Row card 2"/>
          <p:cNvSpPr/>
          <p:nvPr/>
        </p:nvSpPr>
        <p:spPr>
          <a:xfrm>
            <a:off x="7406640" y="3337560"/>
            <a:ext cx="4233672" cy="1005840"/>
          </a:xfrm>
          <a:prstGeom prst="roundRect">
            <a:avLst>
              <a:gd name="adj" fmla="val 10909"/>
            </a:avLst>
          </a:prstGeom>
          <a:solidFill>
            <a:schemeClr val="bg2"/>
          </a:solidFill>
          <a:ln/>
        </p:spPr>
      </p:sp>
      <p:sp>
        <p:nvSpPr>
          <p:cNvPr id="9" name="Row value 2"/>
          <p:cNvSpPr txBox="1"/>
          <p:nvPr/>
        </p:nvSpPr>
        <p:spPr>
          <a:xfrm>
            <a:off x="7635240" y="3383280"/>
            <a:ext cx="1737360" cy="914400"/>
          </a:xfrm>
          <a:prstGeom prst="rect">
            <a:avLst/>
          </a:prstGeom>
          <a:noFill/>
          <a:ln/>
        </p:spPr>
        <p:txBody>
          <a:bodyPr wrap="square" lIns="0" tIns="0" rIns="0" bIns="0" rtlCol="0" anchor="ctr"/>
          <a:lstStyle/>
          <a:p>
            <a:pPr indent="0" marL="0">
              <a:buNone/>
            </a:pPr>
            <a:r>
              <a:rPr lang="en-US" sz="3200" b="1" dirty="0">
                <a:solidFill>
                  <a:schemeClr val="accent6"/>
                </a:solidFill>
              </a:rPr>
              <a:t>3 of 9</a:t>
            </a:r>
            <a:endParaRPr lang="en-US" sz="3200" dirty="0"/>
          </a:p>
        </p:txBody>
      </p:sp>
      <p:sp>
        <p:nvSpPr>
          <p:cNvPr id="10" name="Row label 2"/>
          <p:cNvSpPr txBox="1"/>
          <p:nvPr/>
        </p:nvSpPr>
        <p:spPr>
          <a:xfrm>
            <a:off x="9418320" y="3383280"/>
            <a:ext cx="2103120" cy="914400"/>
          </a:xfrm>
          <a:prstGeom prst="rect">
            <a:avLst/>
          </a:prstGeom>
          <a:noFill/>
          <a:ln/>
        </p:spPr>
        <p:txBody>
          <a:bodyPr wrap="square" lIns="0" tIns="0" rIns="0" bIns="0" rtlCol="0" anchor="ctr"/>
          <a:lstStyle/>
          <a:p>
            <a:pPr indent="0" marL="0">
              <a:buNone/>
            </a:pPr>
            <a:r>
              <a:rPr lang="en-US" sz="1600" dirty="0">
                <a:solidFill>
                  <a:schemeClr val="tx1"/>
                </a:solidFill>
              </a:rPr>
              <a:t>Discount stores</a:t>
            </a:r>
            <a:endParaRPr lang="en-US" sz="1600" dirty="0"/>
          </a:p>
        </p:txBody>
      </p:sp>
      <p:sp>
        <p:nvSpPr>
          <p:cNvPr id="11" name="Row card 3"/>
          <p:cNvSpPr/>
          <p:nvPr/>
        </p:nvSpPr>
        <p:spPr>
          <a:xfrm>
            <a:off x="7406640" y="4526280"/>
            <a:ext cx="4233672" cy="1005840"/>
          </a:xfrm>
          <a:prstGeom prst="roundRect">
            <a:avLst>
              <a:gd name="adj" fmla="val 10909"/>
            </a:avLst>
          </a:prstGeom>
          <a:solidFill>
            <a:schemeClr val="bg2"/>
          </a:solidFill>
          <a:ln/>
        </p:spPr>
      </p:sp>
      <p:sp>
        <p:nvSpPr>
          <p:cNvPr id="12" name="Row value 3"/>
          <p:cNvSpPr txBox="1"/>
          <p:nvPr/>
        </p:nvSpPr>
        <p:spPr>
          <a:xfrm>
            <a:off x="7635240" y="4572000"/>
            <a:ext cx="1737360" cy="914400"/>
          </a:xfrm>
          <a:prstGeom prst="rect">
            <a:avLst/>
          </a:prstGeom>
          <a:noFill/>
          <a:ln/>
        </p:spPr>
        <p:txBody>
          <a:bodyPr wrap="square" lIns="0" tIns="0" rIns="0" bIns="0" rtlCol="0" anchor="ctr"/>
          <a:lstStyle/>
          <a:p>
            <a:pPr indent="0" marL="0">
              <a:buNone/>
            </a:pPr>
            <a:r>
              <a:rPr lang="en-US" sz="3200" b="1" dirty="0">
                <a:solidFill>
                  <a:schemeClr val="accent5"/>
                </a:solidFill>
              </a:rPr>
              <a:t>4 of 8</a:t>
            </a:r>
            <a:endParaRPr lang="en-US" sz="3200" dirty="0"/>
          </a:p>
        </p:txBody>
      </p:sp>
      <p:sp>
        <p:nvSpPr>
          <p:cNvPr id="13" name="Row label 3"/>
          <p:cNvSpPr txBox="1"/>
          <p:nvPr/>
        </p:nvSpPr>
        <p:spPr>
          <a:xfrm>
            <a:off x="9418320" y="4572000"/>
            <a:ext cx="2103120" cy="914400"/>
          </a:xfrm>
          <a:prstGeom prst="rect">
            <a:avLst/>
          </a:prstGeom>
          <a:noFill/>
          <a:ln/>
        </p:spPr>
        <p:txBody>
          <a:bodyPr wrap="square" lIns="0" tIns="0" rIns="0" bIns="0" rtlCol="0" anchor="ctr"/>
          <a:lstStyle/>
          <a:p>
            <a:pPr indent="0" marL="0">
              <a:buNone/>
            </a:pPr>
            <a:r>
              <a:rPr lang="en-US" sz="1600" dirty="0">
                <a:solidFill>
                  <a:schemeClr val="tx1"/>
                </a:solidFill>
              </a:rPr>
              <a:t>BOGO stores</a:t>
            </a:r>
            <a:endParaRPr lang="en-US" sz="1600" dirty="0"/>
          </a:p>
        </p:txBody>
      </p:sp>
      <p:sp>
        <p:nvSpPr>
          <p:cNvPr id="14" name="Takeaway"/>
          <p:cNvSpPr txBox="1"/>
          <p:nvPr/>
        </p:nvSpPr>
        <p:spPr>
          <a:xfrm>
            <a:off x="7406640" y="5760720"/>
            <a:ext cx="4233672" cy="502920"/>
          </a:xfrm>
          <a:prstGeom prst="rect">
            <a:avLst/>
          </a:prstGeom>
          <a:noFill/>
          <a:ln/>
        </p:spPr>
        <p:txBody>
          <a:bodyPr wrap="square" lIns="0" tIns="0" rIns="0" bIns="0" rtlCol="0" anchor="t"/>
          <a:lstStyle/>
          <a:p>
            <a:pPr indent="0" marL="0">
              <a:buNone/>
            </a:pPr>
            <a:r>
              <a:rPr lang="en-US" sz="1400" b="1" dirty="0">
                <a:solidFill>
                  <a:schemeClr val="tx2"/>
                </a:solidFill>
              </a:rPr>
              <a:t>Special events keep about a quarter of their lift; BOGO ends below where it started.</a:t>
            </a:r>
            <a:endParaRPr lang="en-US" sz="1400" dirty="0"/>
          </a:p>
        </p:txBody>
      </p:sp>
      <p:sp>
        <p:nvSpPr>
          <p:cNvPr id="15" name="Footnote"/>
          <p:cNvSpPr txBox="1"/>
          <p:nvPr/>
        </p:nvSpPr>
        <p:spPr>
          <a:xfrm>
            <a:off x="548640" y="5943600"/>
            <a:ext cx="6400800" cy="274320"/>
          </a:xfrm>
          <a:prstGeom prst="rect">
            <a:avLst/>
          </a:prstGeom>
          <a:noFill/>
          <a:ln/>
        </p:spPr>
        <p:txBody>
          <a:bodyPr wrap="square" lIns="0" tIns="0" rIns="0" bIns="0" rtlCol="0" anchor="t"/>
          <a:lstStyle/>
          <a:p>
            <a:pPr indent="0" marL="0">
              <a:buNone/>
            </a:pPr>
            <a:r>
              <a:rPr lang="en-US" sz="1100" dirty="0">
                <a:solidFill>
                  <a:schemeClr val="accent6"/>
                </a:solidFill>
              </a:rPr>
              <a:t>Average store-level change; 8 to 9 stores per promotion type.</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The right promotion depends on the store</a:t>
            </a:r>
            <a:endParaRPr lang="en-US" sz="3400" dirty="0"/>
          </a:p>
        </p:txBody>
      </p:sp>
      <p:graphicFrame>
        <p:nvGraphicFramePr>
          <p:cNvPr id="3" name="Store type chart" descr=""/>
          <p:cNvGraphicFramePr/>
          <p:nvPr/>
        </p:nvGraphicFramePr>
        <p:xfrm>
          <a:off x="548640" y="1463040"/>
          <a:ext cx="6583680" cy="4389120"/>
        </p:xfrm>
        <a:graphic xmlns:a="http://schemas.openxmlformats.org/drawingml/2006/main">
          <a:graphicData uri="http://schemas.openxmlformats.org/drawingml/2006/chart">
            <c:chart xmlns:c="http://schemas.openxmlformats.org/drawingml/2006/chart" r:id="rId1"/>
          </a:graphicData>
        </a:graphic>
      </p:graphicFrame>
      <p:sp>
        <p:nvSpPr>
          <p:cNvPr id="4" name="Insight card 1"/>
          <p:cNvSpPr/>
          <p:nvPr/>
        </p:nvSpPr>
        <p:spPr>
          <a:xfrm>
            <a:off x="7498080" y="1463040"/>
            <a:ext cx="4142232" cy="1325880"/>
          </a:xfrm>
          <a:prstGeom prst="roundRect">
            <a:avLst>
              <a:gd name="adj" fmla="val 8276"/>
            </a:avLst>
          </a:prstGeom>
          <a:solidFill>
            <a:schemeClr val="bg2"/>
          </a:solidFill>
          <a:ln/>
        </p:spPr>
      </p:sp>
      <p:sp>
        <p:nvSpPr>
          <p:cNvPr id="5" name="Insight text 1"/>
          <p:cNvSpPr txBox="1"/>
          <p:nvPr/>
        </p:nvSpPr>
        <p:spPr>
          <a:xfrm>
            <a:off x="7726680" y="1572768"/>
            <a:ext cx="3703320" cy="1097280"/>
          </a:xfrm>
          <a:prstGeom prst="rect">
            <a:avLst/>
          </a:prstGeom>
          <a:noFill/>
          <a:ln/>
        </p:spPr>
        <p:txBody>
          <a:bodyPr wrap="square" lIns="0" tIns="0" rIns="0" bIns="0" rtlCol="0" anchor="ctr"/>
          <a:lstStyle/>
          <a:p>
            <a:pPr indent="0" marL="0">
              <a:spcAft>
                <a:spcPts val="400"/>
              </a:spcAft>
              <a:buNone/>
            </a:pPr>
            <a:r>
              <a:rPr lang="en-US" sz="1600" b="1" dirty="0">
                <a:solidFill>
                  <a:schemeClr val="tx2"/>
                </a:solidFill>
              </a:rPr>
              <a:t>Urban stores respond more</a:t>
            </a:r>
            <a:endParaRPr lang="en-US" sz="1400" dirty="0"/>
          </a:p>
          <a:p>
            <a:pPr indent="0" marL="0">
              <a:buNone/>
            </a:pPr>
            <a:r>
              <a:rPr lang="en-US" sz="1400" dirty="0">
                <a:solidFill>
                  <a:schemeClr val="tx1"/>
                </a:solidFill>
              </a:rPr>
              <a:t>+41.8% vs +28.1% during, and +8.6% vs +0.2% after.</a:t>
            </a:r>
            <a:endParaRPr lang="en-US" sz="1400" dirty="0"/>
          </a:p>
        </p:txBody>
      </p:sp>
      <p:sp>
        <p:nvSpPr>
          <p:cNvPr id="6" name="Insight card 2"/>
          <p:cNvSpPr/>
          <p:nvPr/>
        </p:nvSpPr>
        <p:spPr>
          <a:xfrm>
            <a:off x="7498080" y="2926080"/>
            <a:ext cx="4142232" cy="1325880"/>
          </a:xfrm>
          <a:prstGeom prst="roundRect">
            <a:avLst>
              <a:gd name="adj" fmla="val 8276"/>
            </a:avLst>
          </a:prstGeom>
          <a:solidFill>
            <a:schemeClr val="bg2"/>
          </a:solidFill>
          <a:ln/>
        </p:spPr>
      </p:sp>
      <p:sp>
        <p:nvSpPr>
          <p:cNvPr id="7" name="Insight text 2"/>
          <p:cNvSpPr txBox="1"/>
          <p:nvPr/>
        </p:nvSpPr>
        <p:spPr>
          <a:xfrm>
            <a:off x="7726680" y="3035808"/>
            <a:ext cx="3703320" cy="1097280"/>
          </a:xfrm>
          <a:prstGeom prst="rect">
            <a:avLst/>
          </a:prstGeom>
          <a:noFill/>
          <a:ln/>
        </p:spPr>
        <p:txBody>
          <a:bodyPr wrap="square" lIns="0" tIns="0" rIns="0" bIns="0" rtlCol="0" anchor="ctr"/>
          <a:lstStyle/>
          <a:p>
            <a:pPr indent="0" marL="0">
              <a:spcAft>
                <a:spcPts val="400"/>
              </a:spcAft>
              <a:buNone/>
            </a:pPr>
            <a:r>
              <a:rPr lang="en-US" sz="1600" b="1" dirty="0">
                <a:solidFill>
                  <a:schemeClr val="tx2"/>
                </a:solidFill>
              </a:rPr>
              <a:t>BOGO is weakest in both</a:t>
            </a:r>
            <a:endParaRPr lang="en-US" sz="1400" dirty="0"/>
          </a:p>
          <a:p>
            <a:pPr indent="0" marL="0">
              <a:buNone/>
            </a:pPr>
            <a:r>
              <a:rPr lang="en-US" sz="1400" dirty="0">
                <a:solidFill>
                  <a:schemeClr val="tx1"/>
                </a:solidFill>
              </a:rPr>
              <a:t>Suburban BOGO ended 6.1% below its starting sales.</a:t>
            </a:r>
            <a:endParaRPr lang="en-US" sz="1400" dirty="0"/>
          </a:p>
        </p:txBody>
      </p:sp>
      <p:sp>
        <p:nvSpPr>
          <p:cNvPr id="8" name="Insight card 3"/>
          <p:cNvSpPr/>
          <p:nvPr/>
        </p:nvSpPr>
        <p:spPr>
          <a:xfrm>
            <a:off x="7498080" y="4389120"/>
            <a:ext cx="4142232" cy="1325880"/>
          </a:xfrm>
          <a:prstGeom prst="roundRect">
            <a:avLst>
              <a:gd name="adj" fmla="val 8276"/>
            </a:avLst>
          </a:prstGeom>
          <a:solidFill>
            <a:schemeClr val="bg2"/>
          </a:solidFill>
          <a:ln/>
        </p:spPr>
      </p:sp>
      <p:sp>
        <p:nvSpPr>
          <p:cNvPr id="9" name="Insight text 3"/>
          <p:cNvSpPr txBox="1"/>
          <p:nvPr/>
        </p:nvSpPr>
        <p:spPr>
          <a:xfrm>
            <a:off x="7726680" y="4498848"/>
            <a:ext cx="3703320" cy="1097280"/>
          </a:xfrm>
          <a:prstGeom prst="rect">
            <a:avLst/>
          </a:prstGeom>
          <a:noFill/>
          <a:ln/>
        </p:spPr>
        <p:txBody>
          <a:bodyPr wrap="square" lIns="0" tIns="0" rIns="0" bIns="0" rtlCol="0" anchor="ctr"/>
          <a:lstStyle/>
          <a:p>
            <a:pPr indent="0" marL="0">
              <a:spcAft>
                <a:spcPts val="400"/>
              </a:spcAft>
              <a:buNone/>
            </a:pPr>
            <a:r>
              <a:rPr lang="en-US" sz="1600" b="1" dirty="0">
                <a:solidFill>
                  <a:schemeClr val="tx2"/>
                </a:solidFill>
              </a:rPr>
              <a:t>The best option differs</a:t>
            </a:r>
            <a:endParaRPr lang="en-US" sz="1400" dirty="0"/>
          </a:p>
          <a:p>
            <a:pPr indent="0" marL="0">
              <a:buNone/>
            </a:pPr>
            <a:r>
              <a:rPr lang="en-US" sz="1400" dirty="0">
                <a:solidFill>
                  <a:schemeClr val="tx1"/>
                </a:solidFill>
              </a:rPr>
              <a:t>Suburban: special event leads. Urban: discount and special event are close.</a:t>
            </a:r>
            <a:endParaRPr lang="en-US" sz="1400" dirty="0"/>
          </a:p>
        </p:txBody>
      </p:sp>
      <p:sp>
        <p:nvSpPr>
          <p:cNvPr id="10" name="Footnote"/>
          <p:cNvSpPr txBox="1"/>
          <p:nvPr/>
        </p:nvSpPr>
        <p:spPr>
          <a:xfrm>
            <a:off x="548640" y="5943600"/>
            <a:ext cx="6583680" cy="274320"/>
          </a:xfrm>
          <a:prstGeom prst="rect">
            <a:avLst/>
          </a:prstGeom>
          <a:noFill/>
          <a:ln/>
        </p:spPr>
        <p:txBody>
          <a:bodyPr wrap="square" lIns="0" tIns="0" rIns="0" bIns="0" rtlCol="0" anchor="t"/>
          <a:lstStyle/>
          <a:p>
            <a:pPr indent="0" marL="0">
              <a:buNone/>
            </a:pPr>
            <a:r>
              <a:rPr lang="en-US" sz="1100" dirty="0">
                <a:solidFill>
                  <a:schemeClr val="accent6"/>
                </a:solidFill>
              </a:rPr>
              <a:t>Only 3 to 5 stores per bar, so read these as direction, not proof.</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What the data cannot tell us yet</a:t>
            </a:r>
            <a:endParaRPr lang="en-US" sz="3400" dirty="0"/>
          </a:p>
        </p:txBody>
      </p:sp>
      <p:sp>
        <p:nvSpPr>
          <p:cNvPr id="3" name="Limit card 1"/>
          <p:cNvSpPr/>
          <p:nvPr/>
        </p:nvSpPr>
        <p:spPr>
          <a:xfrm>
            <a:off x="548640" y="1463040"/>
            <a:ext cx="5394960" cy="1691640"/>
          </a:xfrm>
          <a:prstGeom prst="roundRect">
            <a:avLst>
              <a:gd name="adj" fmla="val 6486"/>
            </a:avLst>
          </a:prstGeom>
          <a:solidFill>
            <a:schemeClr val="bg2"/>
          </a:solidFill>
          <a:ln/>
        </p:spPr>
      </p:sp>
      <p:sp>
        <p:nvSpPr>
          <p:cNvPr id="4" name="Limit icon 1 circle"/>
          <p:cNvSpPr/>
          <p:nvPr/>
        </p:nvSpPr>
        <p:spPr>
          <a:xfrm>
            <a:off x="822960" y="1737360"/>
            <a:ext cx="640080" cy="640080"/>
          </a:xfrm>
          <a:prstGeom prst="ellipse">
            <a:avLst/>
          </a:prstGeom>
          <a:solidFill>
            <a:schemeClr val="accent1"/>
          </a:solidFill>
          <a:ln/>
        </p:spPr>
      </p:sp>
      <p:pic>
        <p:nvPicPr>
          <p:cNvPr id="5" name="Limit icon 1" descr="Limit icon 1">    </p:cNvPr>
          <p:cNvPicPr>
            <a:picLocks noChangeAspect="1"/>
          </p:cNvPicPr>
          <p:nvPr/>
        </p:nvPicPr>
        <p:blipFill>
          <a:blip r:embed="rId1"/>
          <a:stretch>
            <a:fillRect/>
          </a:stretch>
        </p:blipFill>
        <p:spPr>
          <a:xfrm>
            <a:off x="1002182" y="1916582"/>
            <a:ext cx="281635" cy="281635"/>
          </a:xfrm>
          <a:prstGeom prst="rect">
            <a:avLst/>
          </a:prstGeom>
        </p:spPr>
      </p:pic>
      <p:sp>
        <p:nvSpPr>
          <p:cNvPr id="6" name="Limit text 1"/>
          <p:cNvSpPr txBox="1"/>
          <p:nvPr/>
        </p:nvSpPr>
        <p:spPr>
          <a:xfrm>
            <a:off x="1645920" y="1645920"/>
            <a:ext cx="4069080" cy="137160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No comparison group</a:t>
            </a:r>
            <a:endParaRPr lang="en-US" sz="1400" dirty="0"/>
          </a:p>
          <a:p>
            <a:pPr indent="0" marL="0">
              <a:buNone/>
            </a:pPr>
            <a:r>
              <a:rPr lang="en-US" sz="1400" dirty="0">
                <a:solidFill>
                  <a:schemeClr val="tx1"/>
                </a:solidFill>
              </a:rPr>
              <a:t>Every store ran a promotion, so we cannot see what would have happened anyway.</a:t>
            </a:r>
            <a:endParaRPr lang="en-US" sz="1400" dirty="0"/>
          </a:p>
        </p:txBody>
      </p:sp>
      <p:sp>
        <p:nvSpPr>
          <p:cNvPr id="7" name="Limit card 2"/>
          <p:cNvSpPr/>
          <p:nvPr/>
        </p:nvSpPr>
        <p:spPr>
          <a:xfrm>
            <a:off x="6245352" y="1463040"/>
            <a:ext cx="5394960" cy="1691640"/>
          </a:xfrm>
          <a:prstGeom prst="roundRect">
            <a:avLst>
              <a:gd name="adj" fmla="val 6486"/>
            </a:avLst>
          </a:prstGeom>
          <a:solidFill>
            <a:schemeClr val="bg2"/>
          </a:solidFill>
          <a:ln/>
        </p:spPr>
      </p:sp>
      <p:sp>
        <p:nvSpPr>
          <p:cNvPr id="8" name="Limit icon 2 circle"/>
          <p:cNvSpPr/>
          <p:nvPr/>
        </p:nvSpPr>
        <p:spPr>
          <a:xfrm>
            <a:off x="6519672" y="1737360"/>
            <a:ext cx="640080" cy="640080"/>
          </a:xfrm>
          <a:prstGeom prst="ellipse">
            <a:avLst/>
          </a:prstGeom>
          <a:solidFill>
            <a:schemeClr val="accent1"/>
          </a:solidFill>
          <a:ln/>
        </p:spPr>
      </p:sp>
      <p:pic>
        <p:nvPicPr>
          <p:cNvPr id="9" name="Limit icon 2" descr="Limit icon 2">    </p:cNvPr>
          <p:cNvPicPr>
            <a:picLocks noChangeAspect="1"/>
          </p:cNvPicPr>
          <p:nvPr/>
        </p:nvPicPr>
        <p:blipFill>
          <a:blip r:embed="rId2"/>
          <a:stretch>
            <a:fillRect/>
          </a:stretch>
        </p:blipFill>
        <p:spPr>
          <a:xfrm>
            <a:off x="6698894" y="1916582"/>
            <a:ext cx="281635" cy="281635"/>
          </a:xfrm>
          <a:prstGeom prst="rect">
            <a:avLst/>
          </a:prstGeom>
        </p:spPr>
      </p:pic>
      <p:sp>
        <p:nvSpPr>
          <p:cNvPr id="10" name="Limit text 2"/>
          <p:cNvSpPr txBox="1"/>
          <p:nvPr/>
        </p:nvSpPr>
        <p:spPr>
          <a:xfrm>
            <a:off x="7342632" y="1645920"/>
            <a:ext cx="4069080" cy="137160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Small groups</a:t>
            </a:r>
            <a:endParaRPr lang="en-US" sz="1400" dirty="0"/>
          </a:p>
          <a:p>
            <a:pPr indent="0" marL="0">
              <a:buNone/>
            </a:pPr>
            <a:r>
              <a:rPr lang="en-US" sz="1400" dirty="0">
                <a:solidFill>
                  <a:schemeClr val="tx1"/>
                </a:solidFill>
              </a:rPr>
              <a:t>Only 3 to 5 stores sit in each promotion-by-store-type group.</a:t>
            </a:r>
            <a:endParaRPr lang="en-US" sz="1400" dirty="0"/>
          </a:p>
        </p:txBody>
      </p:sp>
      <p:sp>
        <p:nvSpPr>
          <p:cNvPr id="11" name="Limit card 3"/>
          <p:cNvSpPr/>
          <p:nvPr/>
        </p:nvSpPr>
        <p:spPr>
          <a:xfrm>
            <a:off x="548640" y="3337560"/>
            <a:ext cx="5394960" cy="1691640"/>
          </a:xfrm>
          <a:prstGeom prst="roundRect">
            <a:avLst>
              <a:gd name="adj" fmla="val 6486"/>
            </a:avLst>
          </a:prstGeom>
          <a:solidFill>
            <a:schemeClr val="bg2"/>
          </a:solidFill>
          <a:ln/>
        </p:spPr>
      </p:sp>
      <p:sp>
        <p:nvSpPr>
          <p:cNvPr id="12" name="Limit icon 3 circle"/>
          <p:cNvSpPr/>
          <p:nvPr/>
        </p:nvSpPr>
        <p:spPr>
          <a:xfrm>
            <a:off x="822960" y="3611880"/>
            <a:ext cx="640080" cy="640080"/>
          </a:xfrm>
          <a:prstGeom prst="ellipse">
            <a:avLst/>
          </a:prstGeom>
          <a:solidFill>
            <a:schemeClr val="accent1"/>
          </a:solidFill>
          <a:ln/>
        </p:spPr>
      </p:sp>
      <p:pic>
        <p:nvPicPr>
          <p:cNvPr id="13" name="Limit icon 3" descr="Limit icon 3">    </p:cNvPr>
          <p:cNvPicPr>
            <a:picLocks noChangeAspect="1"/>
          </p:cNvPicPr>
          <p:nvPr/>
        </p:nvPicPr>
        <p:blipFill>
          <a:blip r:embed="rId3"/>
          <a:stretch>
            <a:fillRect/>
          </a:stretch>
        </p:blipFill>
        <p:spPr>
          <a:xfrm>
            <a:off x="1002182" y="3791102"/>
            <a:ext cx="281635" cy="281635"/>
          </a:xfrm>
          <a:prstGeom prst="rect">
            <a:avLst/>
          </a:prstGeom>
        </p:spPr>
      </p:pic>
      <p:sp>
        <p:nvSpPr>
          <p:cNvPr id="14" name="Limit text 3"/>
          <p:cNvSpPr txBox="1"/>
          <p:nvPr/>
        </p:nvSpPr>
        <p:spPr>
          <a:xfrm>
            <a:off x="1645920" y="3520440"/>
            <a:ext cx="4069080" cy="137160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Mixed-up factors</a:t>
            </a:r>
            <a:endParaRPr lang="en-US" sz="1400" dirty="0"/>
          </a:p>
          <a:p>
            <a:pPr indent="0" marL="0">
              <a:buNone/>
            </a:pPr>
            <a:r>
              <a:rPr lang="en-US" sz="1400" dirty="0">
                <a:solidFill>
                  <a:schemeClr val="tx1"/>
                </a:solidFill>
              </a:rPr>
              <a:t>Special event ran in more urban stores (5 of 8), and bigger stores respond more (0.62), so store type, size and promotion overlap.</a:t>
            </a:r>
            <a:endParaRPr lang="en-US" sz="1400" dirty="0"/>
          </a:p>
        </p:txBody>
      </p:sp>
      <p:sp>
        <p:nvSpPr>
          <p:cNvPr id="15" name="Limit card 4"/>
          <p:cNvSpPr/>
          <p:nvPr/>
        </p:nvSpPr>
        <p:spPr>
          <a:xfrm>
            <a:off x="6245352" y="3337560"/>
            <a:ext cx="5394960" cy="1691640"/>
          </a:xfrm>
          <a:prstGeom prst="roundRect">
            <a:avLst>
              <a:gd name="adj" fmla="val 6486"/>
            </a:avLst>
          </a:prstGeom>
          <a:solidFill>
            <a:schemeClr val="bg2"/>
          </a:solidFill>
          <a:ln/>
        </p:spPr>
      </p:sp>
      <p:sp>
        <p:nvSpPr>
          <p:cNvPr id="16" name="Limit icon 4 circle"/>
          <p:cNvSpPr/>
          <p:nvPr/>
        </p:nvSpPr>
        <p:spPr>
          <a:xfrm>
            <a:off x="6519672" y="3611880"/>
            <a:ext cx="640080" cy="640080"/>
          </a:xfrm>
          <a:prstGeom prst="ellipse">
            <a:avLst/>
          </a:prstGeom>
          <a:solidFill>
            <a:schemeClr val="accent1"/>
          </a:solidFill>
          <a:ln/>
        </p:spPr>
      </p:sp>
      <p:pic>
        <p:nvPicPr>
          <p:cNvPr id="17" name="Limit icon 4" descr="Limit icon 4">    </p:cNvPr>
          <p:cNvPicPr>
            <a:picLocks noChangeAspect="1"/>
          </p:cNvPicPr>
          <p:nvPr/>
        </p:nvPicPr>
        <p:blipFill>
          <a:blip r:embed="rId4"/>
          <a:stretch>
            <a:fillRect/>
          </a:stretch>
        </p:blipFill>
        <p:spPr>
          <a:xfrm>
            <a:off x="6698894" y="3791102"/>
            <a:ext cx="281635" cy="281635"/>
          </a:xfrm>
          <a:prstGeom prst="rect">
            <a:avLst/>
          </a:prstGeom>
        </p:spPr>
      </p:pic>
      <p:sp>
        <p:nvSpPr>
          <p:cNvPr id="18" name="Limit text 4"/>
          <p:cNvSpPr txBox="1"/>
          <p:nvPr/>
        </p:nvSpPr>
        <p:spPr>
          <a:xfrm>
            <a:off x="7342632" y="3520440"/>
            <a:ext cx="4069080" cy="137160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Season and outside factors</a:t>
            </a:r>
            <a:endParaRPr lang="en-US" sz="1400" dirty="0"/>
          </a:p>
          <a:p>
            <a:pPr indent="0" marL="0">
              <a:buNone/>
            </a:pPr>
            <a:r>
              <a:rPr lang="en-US" sz="1400" dirty="0">
                <a:solidFill>
                  <a:schemeClr val="tx1"/>
                </a:solidFill>
              </a:rPr>
              <a:t>All promotions ran April to August 2023. Weather, local events and competitors are not in the data.</a:t>
            </a:r>
            <a:endParaRPr lang="en-US" sz="1400" dirty="0"/>
          </a:p>
        </p:txBody>
      </p:sp>
      <p:sp>
        <p:nvSpPr>
          <p:cNvPr id="19" name="Anomaly banner"/>
          <p:cNvSpPr/>
          <p:nvPr/>
        </p:nvSpPr>
        <p:spPr>
          <a:xfrm>
            <a:off x="548640" y="5349240"/>
            <a:ext cx="11091672" cy="868680"/>
          </a:xfrm>
          <a:prstGeom prst="roundRect">
            <a:avLst>
              <a:gd name="adj" fmla="val 12632"/>
            </a:avLst>
          </a:prstGeom>
          <a:solidFill>
            <a:schemeClr val="tx2"/>
          </a:solidFill>
          <a:ln/>
        </p:spPr>
      </p:sp>
      <p:sp>
        <p:nvSpPr>
          <p:cNvPr id="20" name="Anomaly text"/>
          <p:cNvSpPr txBox="1"/>
          <p:nvPr/>
        </p:nvSpPr>
        <p:spPr>
          <a:xfrm>
            <a:off x="822960" y="5349240"/>
            <a:ext cx="10607040" cy="868680"/>
          </a:xfrm>
          <a:prstGeom prst="rect">
            <a:avLst/>
          </a:prstGeom>
          <a:noFill/>
          <a:ln/>
        </p:spPr>
        <p:txBody>
          <a:bodyPr wrap="square" lIns="0" tIns="0" rIns="0" bIns="0" rtlCol="0" anchor="ctr"/>
          <a:lstStyle/>
          <a:p>
            <a:pPr indent="0" marL="0">
              <a:buNone/>
            </a:pPr>
            <a:r>
              <a:rPr lang="en-US" sz="1600" b="1" dirty="0">
                <a:solidFill>
                  <a:schemeClr val="accent3"/>
                </a:solidFill>
              </a:rPr>
              <a:t>Worth a closer look: </a:t>
            </a:r>
            <a:pPr indent="0" marL="0">
              <a:buNone/>
            </a:pPr>
            <a:r>
              <a:rPr lang="en-US" sz="1600" dirty="0">
                <a:solidFill>
                  <a:schemeClr val="bg1"/>
                </a:solidFill>
              </a:rPr>
              <a:t>Store 1 (urban, discount) lifted +66.7%, while suburban stores 17 and 7 managed under +8%. Seven of the 25 stores ended below their starting sales.</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Promotions that fit the sustainable brand</a:t>
            </a:r>
            <a:endParaRPr lang="en-US" sz="3400" dirty="0"/>
          </a:p>
        </p:txBody>
      </p:sp>
      <p:sp>
        <p:nvSpPr>
          <p:cNvPr id="3" name="Option card 1"/>
          <p:cNvSpPr/>
          <p:nvPr/>
        </p:nvSpPr>
        <p:spPr>
          <a:xfrm>
            <a:off x="548640" y="1463040"/>
            <a:ext cx="3520440" cy="3154680"/>
          </a:xfrm>
          <a:prstGeom prst="roundRect">
            <a:avLst>
              <a:gd name="adj" fmla="val 3478"/>
            </a:avLst>
          </a:prstGeom>
          <a:solidFill>
            <a:schemeClr val="bg2"/>
          </a:solidFill>
          <a:ln/>
        </p:spPr>
      </p:sp>
      <p:sp>
        <p:nvSpPr>
          <p:cNvPr id="4" name="Option icon 1 circle"/>
          <p:cNvSpPr/>
          <p:nvPr/>
        </p:nvSpPr>
        <p:spPr>
          <a:xfrm>
            <a:off x="822960" y="1691640"/>
            <a:ext cx="731520" cy="731520"/>
          </a:xfrm>
          <a:prstGeom prst="ellipse">
            <a:avLst/>
          </a:prstGeom>
          <a:solidFill>
            <a:schemeClr val="accent6"/>
          </a:solidFill>
          <a:ln/>
        </p:spPr>
      </p:sp>
      <p:pic>
        <p:nvPicPr>
          <p:cNvPr id="5" name="Option icon 1" descr="Option icon 1">    </p:cNvPr>
          <p:cNvPicPr>
            <a:picLocks noChangeAspect="1"/>
          </p:cNvPicPr>
          <p:nvPr/>
        </p:nvPicPr>
        <p:blipFill>
          <a:blip r:embed="rId1"/>
          <a:stretch>
            <a:fillRect/>
          </a:stretch>
        </p:blipFill>
        <p:spPr>
          <a:xfrm>
            <a:off x="1027786" y="1896466"/>
            <a:ext cx="321869" cy="321869"/>
          </a:xfrm>
          <a:prstGeom prst="rect">
            <a:avLst/>
          </a:prstGeom>
        </p:spPr>
      </p:pic>
      <p:sp>
        <p:nvSpPr>
          <p:cNvPr id="6" name="Option text 1"/>
          <p:cNvSpPr txBox="1"/>
          <p:nvPr/>
        </p:nvSpPr>
        <p:spPr>
          <a:xfrm>
            <a:off x="822960" y="2606040"/>
            <a:ext cx="3017520" cy="1920240"/>
          </a:xfrm>
          <a:prstGeom prst="rect">
            <a:avLst/>
          </a:prstGeom>
          <a:noFill/>
          <a:ln/>
        </p:spPr>
        <p:txBody>
          <a:bodyPr wrap="square" lIns="0" tIns="0" rIns="0" bIns="0" rtlCol="0" anchor="t"/>
          <a:lstStyle/>
          <a:p>
            <a:pPr indent="0" marL="0">
              <a:spcAft>
                <a:spcPts val="200"/>
              </a:spcAft>
              <a:buNone/>
            </a:pPr>
            <a:r>
              <a:rPr lang="en-US" sz="2000" b="1" dirty="0">
                <a:solidFill>
                  <a:schemeClr val="tx2"/>
                </a:solidFill>
              </a:rPr>
              <a:t>Buy-one-get-one</a:t>
            </a:r>
            <a:endParaRPr lang="en-US" sz="1400" dirty="0"/>
          </a:p>
          <a:p>
            <a:pPr indent="0" marL="0">
              <a:spcAft>
                <a:spcPts val="800"/>
              </a:spcAft>
              <a:buNone/>
            </a:pPr>
            <a:r>
              <a:rPr lang="en-US" sz="1400" b="1" dirty="0">
                <a:solidFill>
                  <a:schemeClr val="accent6"/>
                </a:solidFill>
              </a:rPr>
              <a:t>Benchmark, not the lead</a:t>
            </a:r>
            <a:endParaRPr lang="en-US" sz="1400" dirty="0"/>
          </a:p>
          <a:p>
            <a:pPr indent="0" marL="0">
              <a:buNone/>
            </a:pPr>
            <a:r>
              <a:rPr lang="en-US" sz="1400" dirty="0">
                <a:solidFill>
                  <a:schemeClr val="tx1"/>
                </a:solidFill>
              </a:rPr>
              <a:t>Encourages buying more than needed, and was the weakest and least lasting in our data.</a:t>
            </a:r>
            <a:endParaRPr lang="en-US" sz="1400" dirty="0"/>
          </a:p>
        </p:txBody>
      </p:sp>
      <p:sp>
        <p:nvSpPr>
          <p:cNvPr id="7" name="Option card 2"/>
          <p:cNvSpPr/>
          <p:nvPr/>
        </p:nvSpPr>
        <p:spPr>
          <a:xfrm>
            <a:off x="4334256" y="1463040"/>
            <a:ext cx="3520440" cy="3154680"/>
          </a:xfrm>
          <a:prstGeom prst="roundRect">
            <a:avLst>
              <a:gd name="adj" fmla="val 3478"/>
            </a:avLst>
          </a:prstGeom>
          <a:solidFill>
            <a:schemeClr val="bg2"/>
          </a:solidFill>
          <a:ln/>
        </p:spPr>
      </p:sp>
      <p:sp>
        <p:nvSpPr>
          <p:cNvPr id="8" name="Option icon 2 circle"/>
          <p:cNvSpPr/>
          <p:nvPr/>
        </p:nvSpPr>
        <p:spPr>
          <a:xfrm>
            <a:off x="4608576" y="1691640"/>
            <a:ext cx="731520" cy="731520"/>
          </a:xfrm>
          <a:prstGeom prst="ellipse">
            <a:avLst/>
          </a:prstGeom>
          <a:solidFill>
            <a:schemeClr val="accent1"/>
          </a:solidFill>
          <a:ln/>
        </p:spPr>
      </p:sp>
      <p:pic>
        <p:nvPicPr>
          <p:cNvPr id="9" name="Option icon 2" descr="Option icon 2">    </p:cNvPr>
          <p:cNvPicPr>
            <a:picLocks noChangeAspect="1"/>
          </p:cNvPicPr>
          <p:nvPr/>
        </p:nvPicPr>
        <p:blipFill>
          <a:blip r:embed="rId2"/>
          <a:stretch>
            <a:fillRect/>
          </a:stretch>
        </p:blipFill>
        <p:spPr>
          <a:xfrm>
            <a:off x="4813402" y="1896466"/>
            <a:ext cx="321869" cy="321869"/>
          </a:xfrm>
          <a:prstGeom prst="rect">
            <a:avLst/>
          </a:prstGeom>
        </p:spPr>
      </p:pic>
      <p:sp>
        <p:nvSpPr>
          <p:cNvPr id="10" name="Option text 2"/>
          <p:cNvSpPr txBox="1"/>
          <p:nvPr/>
        </p:nvSpPr>
        <p:spPr>
          <a:xfrm>
            <a:off x="4608576" y="2606040"/>
            <a:ext cx="3017520" cy="1920240"/>
          </a:xfrm>
          <a:prstGeom prst="rect">
            <a:avLst/>
          </a:prstGeom>
          <a:noFill/>
          <a:ln/>
        </p:spPr>
        <p:txBody>
          <a:bodyPr wrap="square" lIns="0" tIns="0" rIns="0" bIns="0" rtlCol="0" anchor="t"/>
          <a:lstStyle/>
          <a:p>
            <a:pPr indent="0" marL="0">
              <a:spcAft>
                <a:spcPts val="200"/>
              </a:spcAft>
              <a:buNone/>
            </a:pPr>
            <a:r>
              <a:rPr lang="en-US" sz="2000" b="1" dirty="0">
                <a:solidFill>
                  <a:schemeClr val="tx2"/>
                </a:solidFill>
              </a:rPr>
              <a:t>Special events</a:t>
            </a:r>
            <a:endParaRPr lang="en-US" sz="1400" dirty="0"/>
          </a:p>
          <a:p>
            <a:pPr indent="0" marL="0">
              <a:spcAft>
                <a:spcPts val="800"/>
              </a:spcAft>
              <a:buNone/>
            </a:pPr>
            <a:r>
              <a:rPr lang="en-US" sz="1400" b="1" dirty="0">
                <a:solidFill>
                  <a:schemeClr val="accent1"/>
                </a:solidFill>
              </a:rPr>
              <a:t>Lead candidate</a:t>
            </a:r>
            <a:endParaRPr lang="en-US" sz="1400" dirty="0"/>
          </a:p>
          <a:p>
            <a:pPr indent="0" marL="0">
              <a:buNone/>
            </a:pPr>
            <a:r>
              <a:rPr lang="en-US" sz="1400" dirty="0">
                <a:solidFill>
                  <a:schemeClr val="tx1"/>
                </a:solidFill>
              </a:rPr>
              <a:t>Strongest lasting effect, and a natural home for repair clinics, gear swaps, guided hikes and trail clean-ups.</a:t>
            </a:r>
            <a:endParaRPr lang="en-US" sz="1400" dirty="0"/>
          </a:p>
        </p:txBody>
      </p:sp>
      <p:sp>
        <p:nvSpPr>
          <p:cNvPr id="11" name="Option card 3"/>
          <p:cNvSpPr/>
          <p:nvPr/>
        </p:nvSpPr>
        <p:spPr>
          <a:xfrm>
            <a:off x="8119872" y="1463040"/>
            <a:ext cx="3520440" cy="3154680"/>
          </a:xfrm>
          <a:prstGeom prst="roundRect">
            <a:avLst>
              <a:gd name="adj" fmla="val 3478"/>
            </a:avLst>
          </a:prstGeom>
          <a:solidFill>
            <a:schemeClr val="bg2"/>
          </a:solidFill>
          <a:ln/>
        </p:spPr>
      </p:sp>
      <p:sp>
        <p:nvSpPr>
          <p:cNvPr id="12" name="Option icon 3 circle"/>
          <p:cNvSpPr/>
          <p:nvPr/>
        </p:nvSpPr>
        <p:spPr>
          <a:xfrm>
            <a:off x="8394192" y="1691640"/>
            <a:ext cx="731520" cy="731520"/>
          </a:xfrm>
          <a:prstGeom prst="ellipse">
            <a:avLst/>
          </a:prstGeom>
          <a:solidFill>
            <a:schemeClr val="accent4"/>
          </a:solidFill>
          <a:ln/>
        </p:spPr>
      </p:sp>
      <p:pic>
        <p:nvPicPr>
          <p:cNvPr id="13" name="Option icon 3" descr="Option icon 3">    </p:cNvPr>
          <p:cNvPicPr>
            <a:picLocks noChangeAspect="1"/>
          </p:cNvPicPr>
          <p:nvPr/>
        </p:nvPicPr>
        <p:blipFill>
          <a:blip r:embed="rId3"/>
          <a:stretch>
            <a:fillRect/>
          </a:stretch>
        </p:blipFill>
        <p:spPr>
          <a:xfrm>
            <a:off x="8599018" y="1896466"/>
            <a:ext cx="321869" cy="321869"/>
          </a:xfrm>
          <a:prstGeom prst="rect">
            <a:avLst/>
          </a:prstGeom>
        </p:spPr>
      </p:pic>
      <p:sp>
        <p:nvSpPr>
          <p:cNvPr id="14" name="Option text 3"/>
          <p:cNvSpPr txBox="1"/>
          <p:nvPr/>
        </p:nvSpPr>
        <p:spPr>
          <a:xfrm>
            <a:off x="8394192" y="2606040"/>
            <a:ext cx="3017520" cy="1920240"/>
          </a:xfrm>
          <a:prstGeom prst="rect">
            <a:avLst/>
          </a:prstGeom>
          <a:noFill/>
          <a:ln/>
        </p:spPr>
        <p:txBody>
          <a:bodyPr wrap="square" lIns="0" tIns="0" rIns="0" bIns="0" rtlCol="0" anchor="t"/>
          <a:lstStyle/>
          <a:p>
            <a:pPr indent="0" marL="0">
              <a:spcAft>
                <a:spcPts val="200"/>
              </a:spcAft>
              <a:buNone/>
            </a:pPr>
            <a:r>
              <a:rPr lang="en-US" sz="2000" b="1" dirty="0">
                <a:solidFill>
                  <a:schemeClr val="tx2"/>
                </a:solidFill>
              </a:rPr>
              <a:t>Targeted discounts</a:t>
            </a:r>
            <a:endParaRPr lang="en-US" sz="1400" dirty="0"/>
          </a:p>
          <a:p>
            <a:pPr indent="0" marL="0">
              <a:spcAft>
                <a:spcPts val="800"/>
              </a:spcAft>
              <a:buNone/>
            </a:pPr>
            <a:r>
              <a:rPr lang="en-US" sz="1400" b="1" dirty="0">
                <a:solidFill>
                  <a:schemeClr val="accent4"/>
                </a:solidFill>
              </a:rPr>
              <a:t>Second candidate</a:t>
            </a:r>
            <a:endParaRPr lang="en-US" sz="1400" dirty="0"/>
          </a:p>
          <a:p>
            <a:pPr indent="0" marL="0">
              <a:buNone/>
            </a:pPr>
            <a:r>
              <a:rPr lang="en-US" sz="1400" dirty="0">
                <a:solidFill>
                  <a:schemeClr val="tx1"/>
                </a:solidFill>
              </a:rPr>
              <a:t>Point offers at durable, repairable or sustainably made products instead of blanket price cuts.</a:t>
            </a:r>
            <a:endParaRPr lang="en-US" sz="1400" dirty="0"/>
          </a:p>
        </p:txBody>
      </p:sp>
      <p:sp>
        <p:nvSpPr>
          <p:cNvPr id="15" name="KPI banner"/>
          <p:cNvSpPr/>
          <p:nvPr/>
        </p:nvSpPr>
        <p:spPr>
          <a:xfrm>
            <a:off x="548640" y="4800600"/>
            <a:ext cx="11091672" cy="1188720"/>
          </a:xfrm>
          <a:prstGeom prst="roundRect">
            <a:avLst>
              <a:gd name="adj" fmla="val 9231"/>
            </a:avLst>
          </a:prstGeom>
          <a:solidFill>
            <a:schemeClr val="tx2"/>
          </a:solidFill>
          <a:ln/>
        </p:spPr>
      </p:sp>
      <p:sp>
        <p:nvSpPr>
          <p:cNvPr id="16" name="KPI heading"/>
          <p:cNvSpPr txBox="1"/>
          <p:nvPr/>
        </p:nvSpPr>
        <p:spPr>
          <a:xfrm>
            <a:off x="822960" y="4800600"/>
            <a:ext cx="2194560" cy="1188720"/>
          </a:xfrm>
          <a:prstGeom prst="rect">
            <a:avLst/>
          </a:prstGeom>
          <a:noFill/>
          <a:ln/>
        </p:spPr>
        <p:txBody>
          <a:bodyPr wrap="square" lIns="0" tIns="0" rIns="0" bIns="0" rtlCol="0" anchor="ctr"/>
          <a:lstStyle/>
          <a:p>
            <a:pPr indent="0" marL="0">
              <a:buNone/>
            </a:pPr>
            <a:r>
              <a:rPr lang="en-US" sz="1800" b="1" dirty="0">
                <a:solidFill>
                  <a:schemeClr val="bg1"/>
                </a:solidFill>
              </a:rPr>
              <a:t>Measure alongside sales</a:t>
            </a:r>
            <a:endParaRPr lang="en-US" sz="1800" dirty="0"/>
          </a:p>
        </p:txBody>
      </p:sp>
      <p:sp>
        <p:nvSpPr>
          <p:cNvPr id="17" name="KPI 1"/>
          <p:cNvSpPr txBox="1"/>
          <p:nvPr/>
        </p:nvSpPr>
        <p:spPr>
          <a:xfrm>
            <a:off x="3200400" y="4800600"/>
            <a:ext cx="1920240" cy="1188720"/>
          </a:xfrm>
          <a:prstGeom prst="rect">
            <a:avLst/>
          </a:prstGeom>
          <a:noFill/>
          <a:ln/>
        </p:spPr>
        <p:txBody>
          <a:bodyPr wrap="square" lIns="0" tIns="0" rIns="0" bIns="0" rtlCol="0" anchor="ctr"/>
          <a:lstStyle/>
          <a:p>
            <a:pPr indent="0" marL="0">
              <a:buNone/>
            </a:pPr>
            <a:r>
              <a:rPr lang="en-US" sz="1400" dirty="0">
                <a:solidFill>
                  <a:schemeClr val="bg1"/>
                </a:solidFill>
              </a:rPr>
              <a:t>Sustainable-product share of sales</a:t>
            </a:r>
            <a:endParaRPr lang="en-US" sz="1400" dirty="0"/>
          </a:p>
        </p:txBody>
      </p:sp>
      <p:sp>
        <p:nvSpPr>
          <p:cNvPr id="18" name="KPI 2"/>
          <p:cNvSpPr txBox="1"/>
          <p:nvPr/>
        </p:nvSpPr>
        <p:spPr>
          <a:xfrm>
            <a:off x="5303520" y="4800600"/>
            <a:ext cx="1920240" cy="1188720"/>
          </a:xfrm>
          <a:prstGeom prst="rect">
            <a:avLst/>
          </a:prstGeom>
          <a:noFill/>
          <a:ln/>
        </p:spPr>
        <p:txBody>
          <a:bodyPr wrap="square" lIns="0" tIns="0" rIns="0" bIns="0" rtlCol="0" anchor="ctr"/>
          <a:lstStyle/>
          <a:p>
            <a:pPr indent="0" marL="0">
              <a:buNone/>
            </a:pPr>
            <a:r>
              <a:rPr lang="en-US" sz="1400" dirty="0">
                <a:solidFill>
                  <a:schemeClr val="bg1"/>
                </a:solidFill>
              </a:rPr>
              <a:t>Repair, refill or swap participation</a:t>
            </a:r>
            <a:endParaRPr lang="en-US" sz="1400" dirty="0"/>
          </a:p>
        </p:txBody>
      </p:sp>
      <p:sp>
        <p:nvSpPr>
          <p:cNvPr id="19" name="KPI 3"/>
          <p:cNvSpPr txBox="1"/>
          <p:nvPr/>
        </p:nvSpPr>
        <p:spPr>
          <a:xfrm>
            <a:off x="7406640" y="4800600"/>
            <a:ext cx="1920240" cy="1188720"/>
          </a:xfrm>
          <a:prstGeom prst="rect">
            <a:avLst/>
          </a:prstGeom>
          <a:noFill/>
          <a:ln/>
        </p:spPr>
        <p:txBody>
          <a:bodyPr wrap="square" lIns="0" tIns="0" rIns="0" bIns="0" rtlCol="0" anchor="ctr"/>
          <a:lstStyle/>
          <a:p>
            <a:pPr indent="0" marL="0">
              <a:buNone/>
            </a:pPr>
            <a:r>
              <a:rPr lang="en-US" sz="1400" dirty="0">
                <a:solidFill>
                  <a:schemeClr val="bg1"/>
                </a:solidFill>
              </a:rPr>
              <a:t>Returns and waste</a:t>
            </a:r>
            <a:endParaRPr lang="en-US" sz="1400" dirty="0"/>
          </a:p>
        </p:txBody>
      </p:sp>
      <p:sp>
        <p:nvSpPr>
          <p:cNvPr id="20" name="KPI 4"/>
          <p:cNvSpPr txBox="1"/>
          <p:nvPr/>
        </p:nvSpPr>
        <p:spPr>
          <a:xfrm>
            <a:off x="9509760" y="4800600"/>
            <a:ext cx="1920240" cy="1188720"/>
          </a:xfrm>
          <a:prstGeom prst="rect">
            <a:avLst/>
          </a:prstGeom>
          <a:noFill/>
          <a:ln/>
        </p:spPr>
        <p:txBody>
          <a:bodyPr wrap="square" lIns="0" tIns="0" rIns="0" bIns="0" rtlCol="0" anchor="ctr"/>
          <a:lstStyle/>
          <a:p>
            <a:pPr indent="0" marL="0">
              <a:buNone/>
            </a:pPr>
            <a:r>
              <a:rPr lang="en-US" sz="1400" dirty="0">
                <a:solidFill>
                  <a:schemeClr val="bg1"/>
                </a:solidFill>
              </a:rPr>
              <a:t>Repeat visits after the event</a:t>
            </a:r>
            <a:endParaRPr lang="en-US" sz="1400" dirty="0"/>
          </a:p>
        </p:txBody>
      </p:sp>
      <p:sp>
        <p:nvSpPr>
          <p:cNvPr id="21" name="Footnote"/>
          <p:cNvSpPr txBox="1"/>
          <p:nvPr/>
        </p:nvSpPr>
        <p:spPr>
          <a:xfrm>
            <a:off x="548640" y="6053328"/>
            <a:ext cx="11091672" cy="274320"/>
          </a:xfrm>
          <a:prstGeom prst="rect">
            <a:avLst/>
          </a:prstGeom>
          <a:noFill/>
          <a:ln/>
        </p:spPr>
        <p:txBody>
          <a:bodyPr wrap="square" lIns="0" tIns="0" rIns="0" bIns="0" rtlCol="0" anchor="t"/>
          <a:lstStyle/>
          <a:p>
            <a:pPr indent="0" marL="0">
              <a:buNone/>
            </a:pPr>
            <a:r>
              <a:rPr lang="en-US" sz="1100" dirty="0">
                <a:solidFill>
                  <a:schemeClr val="accent6"/>
                </a:solidFill>
              </a:rPr>
              <a:t>These are ideas to test, not proven results. KPI definitions to be agreed with GreenTrail's sustainability team.</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A 6-week Test &amp; Learn plan</a:t>
            </a:r>
            <a:endParaRPr lang="en-US" sz="3400" dirty="0"/>
          </a:p>
        </p:txBody>
      </p:sp>
      <p:sp>
        <p:nvSpPr>
          <p:cNvPr id="3" name="Arm card A"/>
          <p:cNvSpPr/>
          <p:nvPr/>
        </p:nvSpPr>
        <p:spPr>
          <a:xfrm>
            <a:off x="548640" y="1463040"/>
            <a:ext cx="2606040" cy="1828800"/>
          </a:xfrm>
          <a:prstGeom prst="roundRect">
            <a:avLst>
              <a:gd name="adj" fmla="val 6000"/>
            </a:avLst>
          </a:prstGeom>
          <a:solidFill>
            <a:schemeClr val="bg2"/>
          </a:solidFill>
          <a:ln/>
        </p:spPr>
      </p:sp>
      <p:sp>
        <p:nvSpPr>
          <p:cNvPr id="4" name="Arm badge A"/>
          <p:cNvSpPr/>
          <p:nvPr/>
        </p:nvSpPr>
        <p:spPr>
          <a:xfrm>
            <a:off x="777240" y="1645920"/>
            <a:ext cx="548640" cy="548640"/>
          </a:xfrm>
          <a:prstGeom prst="ellipse">
            <a:avLst/>
          </a:prstGeom>
          <a:solidFill>
            <a:schemeClr val="accent1"/>
          </a:solidFill>
          <a:ln/>
        </p:spPr>
      </p:sp>
      <p:sp>
        <p:nvSpPr>
          <p:cNvPr id="5" name="Arm letter A"/>
          <p:cNvSpPr txBox="1"/>
          <p:nvPr/>
        </p:nvSpPr>
        <p:spPr>
          <a:xfrm>
            <a:off x="777240" y="1645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6" name="Arm text A"/>
          <p:cNvSpPr txBox="1"/>
          <p:nvPr/>
        </p:nvSpPr>
        <p:spPr>
          <a:xfrm>
            <a:off x="777240" y="2286000"/>
            <a:ext cx="219456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Sustainable special event</a:t>
            </a:r>
            <a:endParaRPr lang="en-US" sz="1400" dirty="0"/>
          </a:p>
          <a:p>
            <a:pPr indent="0" marL="0">
              <a:buNone/>
            </a:pPr>
            <a:r>
              <a:rPr lang="en-US" sz="1400" dirty="0">
                <a:solidFill>
                  <a:schemeClr val="tx1"/>
                </a:solidFill>
              </a:rPr>
              <a:t>Repair, swap or guided-outing event</a:t>
            </a:r>
            <a:endParaRPr lang="en-US" sz="1400" dirty="0"/>
          </a:p>
        </p:txBody>
      </p:sp>
      <p:sp>
        <p:nvSpPr>
          <p:cNvPr id="7" name="Arm card B"/>
          <p:cNvSpPr/>
          <p:nvPr/>
        </p:nvSpPr>
        <p:spPr>
          <a:xfrm>
            <a:off x="3376879" y="1463040"/>
            <a:ext cx="2606040" cy="1828800"/>
          </a:xfrm>
          <a:prstGeom prst="roundRect">
            <a:avLst>
              <a:gd name="adj" fmla="val 6000"/>
            </a:avLst>
          </a:prstGeom>
          <a:solidFill>
            <a:schemeClr val="bg2"/>
          </a:solidFill>
          <a:ln/>
        </p:spPr>
      </p:sp>
      <p:sp>
        <p:nvSpPr>
          <p:cNvPr id="8" name="Arm badge B"/>
          <p:cNvSpPr/>
          <p:nvPr/>
        </p:nvSpPr>
        <p:spPr>
          <a:xfrm>
            <a:off x="3605479" y="1645920"/>
            <a:ext cx="548640" cy="548640"/>
          </a:xfrm>
          <a:prstGeom prst="ellipse">
            <a:avLst/>
          </a:prstGeom>
          <a:solidFill>
            <a:schemeClr val="accent4"/>
          </a:solidFill>
          <a:ln/>
        </p:spPr>
      </p:sp>
      <p:sp>
        <p:nvSpPr>
          <p:cNvPr id="9" name="Arm letter B"/>
          <p:cNvSpPr txBox="1"/>
          <p:nvPr/>
        </p:nvSpPr>
        <p:spPr>
          <a:xfrm>
            <a:off x="3605479" y="1645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Arm text B"/>
          <p:cNvSpPr txBox="1"/>
          <p:nvPr/>
        </p:nvSpPr>
        <p:spPr>
          <a:xfrm>
            <a:off x="3605479" y="2286000"/>
            <a:ext cx="219456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Targeted discount</a:t>
            </a:r>
            <a:endParaRPr lang="en-US" sz="1400" dirty="0"/>
          </a:p>
          <a:p>
            <a:pPr indent="0" marL="0">
              <a:buNone/>
            </a:pPr>
            <a:r>
              <a:rPr lang="en-US" sz="1400" dirty="0">
                <a:solidFill>
                  <a:schemeClr val="tx1"/>
                </a:solidFill>
              </a:rPr>
              <a:t>Offer on durable, sustainably made products</a:t>
            </a:r>
            <a:endParaRPr lang="en-US" sz="1400" dirty="0"/>
          </a:p>
        </p:txBody>
      </p:sp>
      <p:sp>
        <p:nvSpPr>
          <p:cNvPr id="11" name="Arm card C"/>
          <p:cNvSpPr/>
          <p:nvPr/>
        </p:nvSpPr>
        <p:spPr>
          <a:xfrm>
            <a:off x="6205118" y="1463040"/>
            <a:ext cx="2606040" cy="1828800"/>
          </a:xfrm>
          <a:prstGeom prst="roundRect">
            <a:avLst>
              <a:gd name="adj" fmla="val 6000"/>
            </a:avLst>
          </a:prstGeom>
          <a:solidFill>
            <a:schemeClr val="bg2"/>
          </a:solidFill>
          <a:ln/>
        </p:spPr>
      </p:sp>
      <p:sp>
        <p:nvSpPr>
          <p:cNvPr id="12" name="Arm badge C"/>
          <p:cNvSpPr/>
          <p:nvPr/>
        </p:nvSpPr>
        <p:spPr>
          <a:xfrm>
            <a:off x="6433718" y="1645920"/>
            <a:ext cx="548640" cy="548640"/>
          </a:xfrm>
          <a:prstGeom prst="ellipse">
            <a:avLst/>
          </a:prstGeom>
          <a:solidFill>
            <a:schemeClr val="accent6"/>
          </a:solidFill>
          <a:ln/>
        </p:spPr>
      </p:sp>
      <p:sp>
        <p:nvSpPr>
          <p:cNvPr id="13" name="Arm letter C"/>
          <p:cNvSpPr txBox="1"/>
          <p:nvPr/>
        </p:nvSpPr>
        <p:spPr>
          <a:xfrm>
            <a:off x="6433718" y="1645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4" name="Arm text C"/>
          <p:cNvSpPr txBox="1"/>
          <p:nvPr/>
        </p:nvSpPr>
        <p:spPr>
          <a:xfrm>
            <a:off x="6433718" y="2286000"/>
            <a:ext cx="219456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BOGO benchmark</a:t>
            </a:r>
            <a:endParaRPr lang="en-US" sz="1400" dirty="0"/>
          </a:p>
          <a:p>
            <a:pPr indent="0" marL="0">
              <a:buNone/>
            </a:pPr>
            <a:r>
              <a:rPr lang="en-US" sz="1400" dirty="0">
                <a:solidFill>
                  <a:schemeClr val="tx1"/>
                </a:solidFill>
              </a:rPr>
              <a:t>Today's mechanic, for comparison</a:t>
            </a:r>
            <a:endParaRPr lang="en-US" sz="1400" dirty="0"/>
          </a:p>
        </p:txBody>
      </p:sp>
      <p:sp>
        <p:nvSpPr>
          <p:cNvPr id="15" name="Arm card D"/>
          <p:cNvSpPr/>
          <p:nvPr/>
        </p:nvSpPr>
        <p:spPr>
          <a:xfrm>
            <a:off x="9033358" y="1463040"/>
            <a:ext cx="2606040" cy="1828800"/>
          </a:xfrm>
          <a:prstGeom prst="roundRect">
            <a:avLst>
              <a:gd name="adj" fmla="val 6000"/>
            </a:avLst>
          </a:prstGeom>
          <a:solidFill>
            <a:schemeClr val="bg2"/>
          </a:solidFill>
          <a:ln/>
        </p:spPr>
      </p:sp>
      <p:sp>
        <p:nvSpPr>
          <p:cNvPr id="16" name="Arm badge D"/>
          <p:cNvSpPr/>
          <p:nvPr/>
        </p:nvSpPr>
        <p:spPr>
          <a:xfrm>
            <a:off x="9261958" y="1645920"/>
            <a:ext cx="548640" cy="548640"/>
          </a:xfrm>
          <a:prstGeom prst="ellipse">
            <a:avLst/>
          </a:prstGeom>
          <a:solidFill>
            <a:schemeClr val="tx2"/>
          </a:solidFill>
          <a:ln/>
        </p:spPr>
      </p:sp>
      <p:sp>
        <p:nvSpPr>
          <p:cNvPr id="17" name="Arm letter D"/>
          <p:cNvSpPr txBox="1"/>
          <p:nvPr/>
        </p:nvSpPr>
        <p:spPr>
          <a:xfrm>
            <a:off x="9261958" y="1645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8" name="Arm text D"/>
          <p:cNvSpPr txBox="1"/>
          <p:nvPr/>
        </p:nvSpPr>
        <p:spPr>
          <a:xfrm>
            <a:off x="9261958" y="2286000"/>
            <a:ext cx="219456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Control stores</a:t>
            </a:r>
            <a:endParaRPr lang="en-US" sz="1400" dirty="0"/>
          </a:p>
          <a:p>
            <a:pPr indent="0" marL="0">
              <a:buNone/>
            </a:pPr>
            <a:r>
              <a:rPr lang="en-US" sz="1400" dirty="0">
                <a:solidFill>
                  <a:schemeClr val="tx1"/>
                </a:solidFill>
              </a:rPr>
              <a:t>No new promotion, matched to test stores</a:t>
            </a:r>
            <a:endParaRPr lang="en-US" sz="1400" dirty="0"/>
          </a:p>
        </p:txBody>
      </p:sp>
      <p:sp>
        <p:nvSpPr>
          <p:cNvPr id="19" name="Week 1"/>
          <p:cNvSpPr/>
          <p:nvPr/>
        </p:nvSpPr>
        <p:spPr>
          <a:xfrm>
            <a:off x="548640" y="3611880"/>
            <a:ext cx="1801368" cy="457200"/>
          </a:xfrm>
          <a:prstGeom prst="rect">
            <a:avLst/>
          </a:prstGeom>
          <a:solidFill>
            <a:schemeClr val="accent1"/>
          </a:solidFill>
          <a:ln/>
        </p:spPr>
      </p:sp>
      <p:sp>
        <p:nvSpPr>
          <p:cNvPr id="20" name="Week label 1"/>
          <p:cNvSpPr txBox="1"/>
          <p:nvPr/>
        </p:nvSpPr>
        <p:spPr>
          <a:xfrm>
            <a:off x="548640" y="3611880"/>
            <a:ext cx="1801368" cy="457200"/>
          </a:xfrm>
          <a:prstGeom prst="rect">
            <a:avLst/>
          </a:prstGeom>
          <a:noFill/>
          <a:ln/>
        </p:spPr>
        <p:txBody>
          <a:bodyPr wrap="square" lIns="0" tIns="0" rIns="0" bIns="0" rtlCol="0" anchor="ctr"/>
          <a:lstStyle/>
          <a:p>
            <a:pPr algn="ctr" indent="0" marL="0">
              <a:buNone/>
            </a:pPr>
            <a:r>
              <a:rPr lang="en-US" sz="1400" b="1" dirty="0">
                <a:solidFill>
                  <a:schemeClr val="bg1"/>
                </a:solidFill>
              </a:rPr>
              <a:t>Week 1</a:t>
            </a:r>
            <a:endParaRPr lang="en-US" sz="1400" dirty="0"/>
          </a:p>
        </p:txBody>
      </p:sp>
      <p:sp>
        <p:nvSpPr>
          <p:cNvPr id="21" name="Week 2"/>
          <p:cNvSpPr/>
          <p:nvPr/>
        </p:nvSpPr>
        <p:spPr>
          <a:xfrm>
            <a:off x="2397282" y="3611880"/>
            <a:ext cx="1801368" cy="457200"/>
          </a:xfrm>
          <a:prstGeom prst="rect">
            <a:avLst/>
          </a:prstGeom>
          <a:solidFill>
            <a:schemeClr val="accent1"/>
          </a:solidFill>
          <a:ln/>
        </p:spPr>
      </p:sp>
      <p:sp>
        <p:nvSpPr>
          <p:cNvPr id="22" name="Week label 2"/>
          <p:cNvSpPr txBox="1"/>
          <p:nvPr/>
        </p:nvSpPr>
        <p:spPr>
          <a:xfrm>
            <a:off x="2397282" y="3611880"/>
            <a:ext cx="1801368" cy="457200"/>
          </a:xfrm>
          <a:prstGeom prst="rect">
            <a:avLst/>
          </a:prstGeom>
          <a:noFill/>
          <a:ln/>
        </p:spPr>
        <p:txBody>
          <a:bodyPr wrap="square" lIns="0" tIns="0" rIns="0" bIns="0" rtlCol="0" anchor="ctr"/>
          <a:lstStyle/>
          <a:p>
            <a:pPr algn="ctr" indent="0" marL="0">
              <a:buNone/>
            </a:pPr>
            <a:r>
              <a:rPr lang="en-US" sz="1400" b="1" dirty="0">
                <a:solidFill>
                  <a:schemeClr val="bg1"/>
                </a:solidFill>
              </a:rPr>
              <a:t>Week 2</a:t>
            </a:r>
            <a:endParaRPr lang="en-US" sz="1400" dirty="0"/>
          </a:p>
        </p:txBody>
      </p:sp>
      <p:sp>
        <p:nvSpPr>
          <p:cNvPr id="23" name="Week 3"/>
          <p:cNvSpPr/>
          <p:nvPr/>
        </p:nvSpPr>
        <p:spPr>
          <a:xfrm>
            <a:off x="4245925" y="3611880"/>
            <a:ext cx="1801368" cy="457200"/>
          </a:xfrm>
          <a:prstGeom prst="rect">
            <a:avLst/>
          </a:prstGeom>
          <a:solidFill>
            <a:schemeClr val="accent1"/>
          </a:solidFill>
          <a:ln/>
        </p:spPr>
      </p:sp>
      <p:sp>
        <p:nvSpPr>
          <p:cNvPr id="24" name="Week label 3"/>
          <p:cNvSpPr txBox="1"/>
          <p:nvPr/>
        </p:nvSpPr>
        <p:spPr>
          <a:xfrm>
            <a:off x="4245925" y="3611880"/>
            <a:ext cx="1801368" cy="457200"/>
          </a:xfrm>
          <a:prstGeom prst="rect">
            <a:avLst/>
          </a:prstGeom>
          <a:noFill/>
          <a:ln/>
        </p:spPr>
        <p:txBody>
          <a:bodyPr wrap="square" lIns="0" tIns="0" rIns="0" bIns="0" rtlCol="0" anchor="ctr"/>
          <a:lstStyle/>
          <a:p>
            <a:pPr algn="ctr" indent="0" marL="0">
              <a:buNone/>
            </a:pPr>
            <a:r>
              <a:rPr lang="en-US" sz="1400" b="1" dirty="0">
                <a:solidFill>
                  <a:schemeClr val="bg1"/>
                </a:solidFill>
              </a:rPr>
              <a:t>Week 3</a:t>
            </a:r>
            <a:endParaRPr lang="en-US" sz="1400" dirty="0"/>
          </a:p>
        </p:txBody>
      </p:sp>
      <p:sp>
        <p:nvSpPr>
          <p:cNvPr id="25" name="Week 4"/>
          <p:cNvSpPr/>
          <p:nvPr/>
        </p:nvSpPr>
        <p:spPr>
          <a:xfrm>
            <a:off x="6094567" y="3611880"/>
            <a:ext cx="1801368" cy="457200"/>
          </a:xfrm>
          <a:prstGeom prst="rect">
            <a:avLst/>
          </a:prstGeom>
          <a:solidFill>
            <a:schemeClr val="accent1"/>
          </a:solidFill>
          <a:ln/>
        </p:spPr>
      </p:sp>
      <p:sp>
        <p:nvSpPr>
          <p:cNvPr id="26" name="Week label 4"/>
          <p:cNvSpPr txBox="1"/>
          <p:nvPr/>
        </p:nvSpPr>
        <p:spPr>
          <a:xfrm>
            <a:off x="6094567" y="3611880"/>
            <a:ext cx="1801368" cy="457200"/>
          </a:xfrm>
          <a:prstGeom prst="rect">
            <a:avLst/>
          </a:prstGeom>
          <a:noFill/>
          <a:ln/>
        </p:spPr>
        <p:txBody>
          <a:bodyPr wrap="square" lIns="0" tIns="0" rIns="0" bIns="0" rtlCol="0" anchor="ctr"/>
          <a:lstStyle/>
          <a:p>
            <a:pPr algn="ctr" indent="0" marL="0">
              <a:buNone/>
            </a:pPr>
            <a:r>
              <a:rPr lang="en-US" sz="1400" b="1" dirty="0">
                <a:solidFill>
                  <a:schemeClr val="bg1"/>
                </a:solidFill>
              </a:rPr>
              <a:t>Week 4</a:t>
            </a:r>
            <a:endParaRPr lang="en-US" sz="1400" dirty="0"/>
          </a:p>
        </p:txBody>
      </p:sp>
      <p:sp>
        <p:nvSpPr>
          <p:cNvPr id="27" name="Week 5"/>
          <p:cNvSpPr/>
          <p:nvPr/>
        </p:nvSpPr>
        <p:spPr>
          <a:xfrm>
            <a:off x="7943210" y="3611880"/>
            <a:ext cx="1801368" cy="457200"/>
          </a:xfrm>
          <a:prstGeom prst="rect">
            <a:avLst/>
          </a:prstGeom>
          <a:solidFill>
            <a:schemeClr val="accent2"/>
          </a:solidFill>
          <a:ln/>
        </p:spPr>
      </p:sp>
      <p:sp>
        <p:nvSpPr>
          <p:cNvPr id="28" name="Week label 5"/>
          <p:cNvSpPr txBox="1"/>
          <p:nvPr/>
        </p:nvSpPr>
        <p:spPr>
          <a:xfrm>
            <a:off x="7943210" y="3611880"/>
            <a:ext cx="1801368" cy="457200"/>
          </a:xfrm>
          <a:prstGeom prst="rect">
            <a:avLst/>
          </a:prstGeom>
          <a:noFill/>
          <a:ln/>
        </p:spPr>
        <p:txBody>
          <a:bodyPr wrap="square" lIns="0" tIns="0" rIns="0" bIns="0" rtlCol="0" anchor="ctr"/>
          <a:lstStyle/>
          <a:p>
            <a:pPr algn="ctr" indent="0" marL="0">
              <a:buNone/>
            </a:pPr>
            <a:r>
              <a:rPr lang="en-US" sz="1400" b="1" dirty="0">
                <a:solidFill>
                  <a:schemeClr val="bg1"/>
                </a:solidFill>
              </a:rPr>
              <a:t>Week 5</a:t>
            </a:r>
            <a:endParaRPr lang="en-US" sz="1400" dirty="0"/>
          </a:p>
        </p:txBody>
      </p:sp>
      <p:sp>
        <p:nvSpPr>
          <p:cNvPr id="29" name="Week 6"/>
          <p:cNvSpPr/>
          <p:nvPr/>
        </p:nvSpPr>
        <p:spPr>
          <a:xfrm>
            <a:off x="9791852" y="3611880"/>
            <a:ext cx="1801368" cy="457200"/>
          </a:xfrm>
          <a:prstGeom prst="rect">
            <a:avLst/>
          </a:prstGeom>
          <a:solidFill>
            <a:schemeClr val="accent2"/>
          </a:solidFill>
          <a:ln/>
        </p:spPr>
      </p:sp>
      <p:sp>
        <p:nvSpPr>
          <p:cNvPr id="30" name="Week label 6"/>
          <p:cNvSpPr txBox="1"/>
          <p:nvPr/>
        </p:nvSpPr>
        <p:spPr>
          <a:xfrm>
            <a:off x="9791852" y="3611880"/>
            <a:ext cx="1801368" cy="457200"/>
          </a:xfrm>
          <a:prstGeom prst="rect">
            <a:avLst/>
          </a:prstGeom>
          <a:noFill/>
          <a:ln/>
        </p:spPr>
        <p:txBody>
          <a:bodyPr wrap="square" lIns="0" tIns="0" rIns="0" bIns="0" rtlCol="0" anchor="ctr"/>
          <a:lstStyle/>
          <a:p>
            <a:pPr algn="ctr" indent="0" marL="0">
              <a:buNone/>
            </a:pPr>
            <a:r>
              <a:rPr lang="en-US" sz="1400" b="1" dirty="0">
                <a:solidFill>
                  <a:schemeClr val="bg1"/>
                </a:solidFill>
              </a:rPr>
              <a:t>Week 6</a:t>
            </a:r>
            <a:endParaRPr lang="en-US" sz="1400" dirty="0"/>
          </a:p>
        </p:txBody>
      </p:sp>
      <p:sp>
        <p:nvSpPr>
          <p:cNvPr id="31" name="Phase 1 label"/>
          <p:cNvSpPr txBox="1"/>
          <p:nvPr/>
        </p:nvSpPr>
        <p:spPr>
          <a:xfrm>
            <a:off x="548640" y="4133088"/>
            <a:ext cx="7315200" cy="320040"/>
          </a:xfrm>
          <a:prstGeom prst="rect">
            <a:avLst/>
          </a:prstGeom>
          <a:noFill/>
          <a:ln/>
        </p:spPr>
        <p:txBody>
          <a:bodyPr wrap="square" lIns="0" tIns="0" rIns="0" bIns="0" rtlCol="0" anchor="t"/>
          <a:lstStyle/>
          <a:p>
            <a:pPr indent="0" marL="0">
              <a:buNone/>
            </a:pPr>
            <a:r>
              <a:rPr lang="en-US" sz="1400" b="1" dirty="0">
                <a:solidFill>
                  <a:schemeClr val="accent1"/>
                </a:solidFill>
              </a:rPr>
              <a:t>Run the promotions (4 weeks)</a:t>
            </a:r>
            <a:endParaRPr lang="en-US" sz="1400" dirty="0"/>
          </a:p>
        </p:txBody>
      </p:sp>
      <p:sp>
        <p:nvSpPr>
          <p:cNvPr id="32" name="Phase 2 label"/>
          <p:cNvSpPr txBox="1"/>
          <p:nvPr/>
        </p:nvSpPr>
        <p:spPr>
          <a:xfrm>
            <a:off x="7955280" y="4133088"/>
            <a:ext cx="3685032" cy="320040"/>
          </a:xfrm>
          <a:prstGeom prst="rect">
            <a:avLst/>
          </a:prstGeom>
          <a:noFill/>
          <a:ln/>
        </p:spPr>
        <p:txBody>
          <a:bodyPr wrap="square" lIns="0" tIns="0" rIns="0" bIns="0" rtlCol="0" anchor="t"/>
          <a:lstStyle/>
          <a:p>
            <a:pPr indent="0" marL="0">
              <a:buNone/>
            </a:pPr>
            <a:r>
              <a:rPr lang="en-US" sz="1400" b="1" dirty="0">
                <a:solidFill>
                  <a:schemeClr val="accent2"/>
                </a:solidFill>
              </a:rPr>
              <a:t>Follow-up: does it last? (2 weeks)</a:t>
            </a:r>
            <a:endParaRPr lang="en-US" sz="1400" dirty="0"/>
          </a:p>
        </p:txBody>
      </p:sp>
      <p:sp>
        <p:nvSpPr>
          <p:cNvPr id="33" name="Method 1"/>
          <p:cNvSpPr txBox="1"/>
          <p:nvPr/>
        </p:nvSpPr>
        <p:spPr>
          <a:xfrm>
            <a:off x="548640" y="4754880"/>
            <a:ext cx="3520440" cy="128016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Match stores first</a:t>
            </a:r>
            <a:endParaRPr lang="en-US" sz="1400" dirty="0"/>
          </a:p>
          <a:p>
            <a:pPr indent="0" marL="0">
              <a:buNone/>
            </a:pPr>
            <a:r>
              <a:rPr lang="en-US" sz="1400" dirty="0">
                <a:solidFill>
                  <a:schemeClr val="tx1"/>
                </a:solidFill>
              </a:rPr>
              <a:t>Pair test and control stores on format, size, baseline sales and traffic.</a:t>
            </a:r>
            <a:endParaRPr lang="en-US" sz="1400" dirty="0"/>
          </a:p>
        </p:txBody>
      </p:sp>
      <p:sp>
        <p:nvSpPr>
          <p:cNvPr id="34" name="Method 2"/>
          <p:cNvSpPr txBox="1"/>
          <p:nvPr/>
        </p:nvSpPr>
        <p:spPr>
          <a:xfrm>
            <a:off x="4334256" y="4754880"/>
            <a:ext cx="3520440" cy="128016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Judge by incremental lift</a:t>
            </a:r>
            <a:endParaRPr lang="en-US" sz="1400" dirty="0"/>
          </a:p>
          <a:p>
            <a:pPr indent="0" marL="0">
              <a:buNone/>
            </a:pPr>
            <a:r>
              <a:rPr lang="en-US" sz="1400" dirty="0">
                <a:solidFill>
                  <a:schemeClr val="tx1"/>
                </a:solidFill>
              </a:rPr>
              <a:t>Change in test stores minus change in control stores.</a:t>
            </a:r>
            <a:endParaRPr lang="en-US" sz="1400" dirty="0"/>
          </a:p>
        </p:txBody>
      </p:sp>
      <p:sp>
        <p:nvSpPr>
          <p:cNvPr id="35" name="Method 3"/>
          <p:cNvSpPr txBox="1"/>
          <p:nvPr/>
        </p:nvSpPr>
        <p:spPr>
          <a:xfrm>
            <a:off x="8119872" y="4754880"/>
            <a:ext cx="3520440" cy="128016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Decide up front</a:t>
            </a:r>
            <a:endParaRPr lang="en-US" sz="1400" dirty="0"/>
          </a:p>
          <a:p>
            <a:pPr indent="0" marL="0">
              <a:buNone/>
            </a:pPr>
            <a:r>
              <a:rPr lang="en-US" sz="1400" dirty="0">
                <a:solidFill>
                  <a:schemeClr val="tx1"/>
                </a:solidFill>
              </a:rPr>
              <a:t>Fix success thresholds and test length before launch.</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lIns="0" tIns="0" rIns="0" bIns="0" rtlCol="0" anchor="ctr"/>
          <a:lstStyle/>
          <a:p>
            <a:pPr algn="l" indent="0" marL="0">
              <a:buNone/>
            </a:pPr>
            <a:r>
              <a:rPr lang="en-US" sz="3800" b="1" dirty="0">
                <a:solidFill>
                  <a:schemeClr val="bg1"/>
                </a:solidFill>
              </a:rPr>
              <a:t>What we need from you to start</a:t>
            </a:r>
            <a:endParaRPr lang="en-US" sz="3800" dirty="0"/>
          </a:p>
        </p:txBody>
      </p:sp>
      <p:sp>
        <p:nvSpPr>
          <p:cNvPr id="3" name="Ask icon 1 circle"/>
          <p:cNvSpPr/>
          <p:nvPr/>
        </p:nvSpPr>
        <p:spPr>
          <a:xfrm>
            <a:off x="731520" y="1874520"/>
            <a:ext cx="868680" cy="868680"/>
          </a:xfrm>
          <a:prstGeom prst="ellipse">
            <a:avLst/>
          </a:prstGeom>
          <a:solidFill>
            <a:schemeClr val="accent1"/>
          </a:solidFill>
          <a:ln/>
        </p:spPr>
      </p:sp>
      <p:pic>
        <p:nvPicPr>
          <p:cNvPr id="4" name="Ask icon 1" descr="Ask icon 1">    </p:cNvPr>
          <p:cNvPicPr>
            <a:picLocks noChangeAspect="1"/>
          </p:cNvPicPr>
          <p:nvPr/>
        </p:nvPicPr>
        <p:blipFill>
          <a:blip r:embed="rId1"/>
          <a:stretch>
            <a:fillRect/>
          </a:stretch>
        </p:blipFill>
        <p:spPr>
          <a:xfrm>
            <a:off x="974750" y="2117750"/>
            <a:ext cx="382219" cy="382219"/>
          </a:xfrm>
          <a:prstGeom prst="rect">
            <a:avLst/>
          </a:prstGeom>
        </p:spPr>
      </p:pic>
      <p:sp>
        <p:nvSpPr>
          <p:cNvPr id="5" name="Ask text 1"/>
          <p:cNvSpPr txBox="1"/>
          <p:nvPr/>
        </p:nvSpPr>
        <p:spPr>
          <a:xfrm>
            <a:off x="731520" y="2971800"/>
            <a:ext cx="3200400" cy="1828800"/>
          </a:xfrm>
          <a:prstGeom prst="rect">
            <a:avLst/>
          </a:prstGeom>
          <a:noFill/>
          <a:ln/>
        </p:spPr>
        <p:txBody>
          <a:bodyPr wrap="square" lIns="0" tIns="0" rIns="0" bIns="0" rtlCol="0" anchor="t"/>
          <a:lstStyle/>
          <a:p>
            <a:pPr indent="0" marL="0">
              <a:spcAft>
                <a:spcPts val="600"/>
              </a:spcAft>
              <a:buNone/>
            </a:pPr>
            <a:r>
              <a:rPr lang="en-US" sz="2200" b="1" dirty="0">
                <a:solidFill>
                  <a:schemeClr val="bg1"/>
                </a:solidFill>
              </a:rPr>
              <a:t>Approve the plan</a:t>
            </a:r>
            <a:endParaRPr lang="en-US" sz="1400" dirty="0"/>
          </a:p>
          <a:p>
            <a:pPr indent="0" marL="0">
              <a:buNone/>
            </a:pPr>
            <a:r>
              <a:rPr lang="en-US" sz="1600" dirty="0">
                <a:solidFill>
                  <a:schemeClr val="bg2"/>
                </a:solidFill>
              </a:rPr>
              <a:t>Agree the test promotions and the 6-week window.</a:t>
            </a:r>
            <a:endParaRPr lang="en-US" sz="1400" dirty="0"/>
          </a:p>
        </p:txBody>
      </p:sp>
      <p:sp>
        <p:nvSpPr>
          <p:cNvPr id="6" name="Ask icon 2 circle"/>
          <p:cNvSpPr/>
          <p:nvPr/>
        </p:nvSpPr>
        <p:spPr>
          <a:xfrm>
            <a:off x="4389120" y="1874520"/>
            <a:ext cx="868680" cy="868680"/>
          </a:xfrm>
          <a:prstGeom prst="ellipse">
            <a:avLst/>
          </a:prstGeom>
          <a:solidFill>
            <a:schemeClr val="accent1"/>
          </a:solidFill>
          <a:ln/>
        </p:spPr>
      </p:sp>
      <p:pic>
        <p:nvPicPr>
          <p:cNvPr id="7" name="Ask icon 2" descr="Ask icon 2">    </p:cNvPr>
          <p:cNvPicPr>
            <a:picLocks noChangeAspect="1"/>
          </p:cNvPicPr>
          <p:nvPr/>
        </p:nvPicPr>
        <p:blipFill>
          <a:blip r:embed="rId2"/>
          <a:stretch>
            <a:fillRect/>
          </a:stretch>
        </p:blipFill>
        <p:spPr>
          <a:xfrm>
            <a:off x="4632350" y="2117750"/>
            <a:ext cx="382219" cy="382219"/>
          </a:xfrm>
          <a:prstGeom prst="rect">
            <a:avLst/>
          </a:prstGeom>
        </p:spPr>
      </p:pic>
      <p:sp>
        <p:nvSpPr>
          <p:cNvPr id="8" name="Ask text 2"/>
          <p:cNvSpPr txBox="1"/>
          <p:nvPr/>
        </p:nvSpPr>
        <p:spPr>
          <a:xfrm>
            <a:off x="4389120" y="2971800"/>
            <a:ext cx="3200400" cy="1828800"/>
          </a:xfrm>
          <a:prstGeom prst="rect">
            <a:avLst/>
          </a:prstGeom>
          <a:noFill/>
          <a:ln/>
        </p:spPr>
        <p:txBody>
          <a:bodyPr wrap="square" lIns="0" tIns="0" rIns="0" bIns="0" rtlCol="0" anchor="t"/>
          <a:lstStyle/>
          <a:p>
            <a:pPr indent="0" marL="0">
              <a:spcAft>
                <a:spcPts val="600"/>
              </a:spcAft>
              <a:buNone/>
            </a:pPr>
            <a:r>
              <a:rPr lang="en-US" sz="2200" b="1" dirty="0">
                <a:solidFill>
                  <a:schemeClr val="bg1"/>
                </a:solidFill>
              </a:rPr>
              <a:t>Share the data</a:t>
            </a:r>
            <a:endParaRPr lang="en-US" sz="1400" dirty="0"/>
          </a:p>
          <a:p>
            <a:pPr indent="0" marL="0">
              <a:buNone/>
            </a:pPr>
            <a:r>
              <a:rPr lang="en-US" sz="1600" dirty="0">
                <a:solidFill>
                  <a:schemeClr val="bg2"/>
                </a:solidFill>
              </a:rPr>
              <a:t>Sales and visits for stores without promotions, plus transactions, promotion costs and store details.</a:t>
            </a:r>
            <a:endParaRPr lang="en-US" sz="1400" dirty="0"/>
          </a:p>
        </p:txBody>
      </p:sp>
      <p:sp>
        <p:nvSpPr>
          <p:cNvPr id="9" name="Ask icon 3 circle"/>
          <p:cNvSpPr/>
          <p:nvPr/>
        </p:nvSpPr>
        <p:spPr>
          <a:xfrm>
            <a:off x="8046720" y="1874520"/>
            <a:ext cx="868680" cy="868680"/>
          </a:xfrm>
          <a:prstGeom prst="ellipse">
            <a:avLst/>
          </a:prstGeom>
          <a:solidFill>
            <a:schemeClr val="accent1"/>
          </a:solidFill>
          <a:ln/>
        </p:spPr>
      </p:sp>
      <p:pic>
        <p:nvPicPr>
          <p:cNvPr id="10" name="Ask icon 3" descr="Ask icon 3">    </p:cNvPr>
          <p:cNvPicPr>
            <a:picLocks noChangeAspect="1"/>
          </p:cNvPicPr>
          <p:nvPr/>
        </p:nvPicPr>
        <p:blipFill>
          <a:blip r:embed="rId3"/>
          <a:stretch>
            <a:fillRect/>
          </a:stretch>
        </p:blipFill>
        <p:spPr>
          <a:xfrm>
            <a:off x="8289950" y="2117750"/>
            <a:ext cx="382219" cy="382219"/>
          </a:xfrm>
          <a:prstGeom prst="rect">
            <a:avLst/>
          </a:prstGeom>
        </p:spPr>
      </p:pic>
      <p:sp>
        <p:nvSpPr>
          <p:cNvPr id="11" name="Ask text 3"/>
          <p:cNvSpPr txBox="1"/>
          <p:nvPr/>
        </p:nvSpPr>
        <p:spPr>
          <a:xfrm>
            <a:off x="8046720" y="2971800"/>
            <a:ext cx="3200400" cy="1828800"/>
          </a:xfrm>
          <a:prstGeom prst="rect">
            <a:avLst/>
          </a:prstGeom>
          <a:noFill/>
          <a:ln/>
        </p:spPr>
        <p:txBody>
          <a:bodyPr wrap="square" lIns="0" tIns="0" rIns="0" bIns="0" rtlCol="0" anchor="t"/>
          <a:lstStyle/>
          <a:p>
            <a:pPr indent="0" marL="0">
              <a:spcAft>
                <a:spcPts val="600"/>
              </a:spcAft>
              <a:buNone/>
            </a:pPr>
            <a:r>
              <a:rPr lang="en-US" sz="2200" b="1" dirty="0">
                <a:solidFill>
                  <a:schemeClr val="bg1"/>
                </a:solidFill>
              </a:rPr>
              <a:t>Define sustainability KPIs</a:t>
            </a:r>
            <a:endParaRPr lang="en-US" sz="1400" dirty="0"/>
          </a:p>
          <a:p>
            <a:pPr indent="0" marL="0">
              <a:buNone/>
            </a:pPr>
            <a:r>
              <a:rPr lang="en-US" sz="1600" dirty="0">
                <a:solidFill>
                  <a:schemeClr val="bg2"/>
                </a:solidFill>
              </a:rPr>
              <a:t>Work with GreenTrail's sustainability team on how success is measured.</a:t>
            </a:r>
            <a:endParaRPr lang="en-US" sz="1400" dirty="0"/>
          </a:p>
        </p:txBody>
      </p:sp>
      <p:sp>
        <p:nvSpPr>
          <p:cNvPr id="12" name="Closing statement"/>
          <p:cNvSpPr txBox="1"/>
          <p:nvPr/>
        </p:nvSpPr>
        <p:spPr>
          <a:xfrm>
            <a:off x="731520" y="5212080"/>
            <a:ext cx="10698480" cy="822960"/>
          </a:xfrm>
          <a:prstGeom prst="rect">
            <a:avLst/>
          </a:prstGeom>
          <a:noFill/>
          <a:ln/>
        </p:spPr>
        <p:txBody>
          <a:bodyPr wrap="square" lIns="0" tIns="0" rIns="0" bIns="0" rtlCol="0" anchor="ctr"/>
          <a:lstStyle/>
          <a:p>
            <a:pPr indent="0" marL="0">
              <a:buNone/>
            </a:pPr>
            <a:r>
              <a:rPr lang="en-US" sz="2600" b="1" dirty="0">
                <a:solidFill>
                  <a:schemeClr val="accent3"/>
                </a:solidFill>
              </a:rPr>
              <a:t>In week 7 we decide: scale what lifts sales, lasts, and fits the brand.</a:t>
            </a:r>
            <a:endParaRPr lang="en-US" sz="2600" dirty="0"/>
          </a:p>
        </p:txBody>
      </p:sp>
    </p:spTree>
  </p:cSld>
  <p:clrMapOvr>
    <a:masterClrMapping/>
  </p:clrMapOvr>
</p:sld>
</file>

<file path=ppt/theme/theme1.xml><?xml version="1.0" encoding="utf-8"?>
<a:theme xmlns:a="http://schemas.openxmlformats.org/drawingml/2006/main" name="GreenTrail Trail">
  <a:themeElements>
    <a:clrScheme name="GreenTrail Trail">
      <a:dk1>
        <a:srgbClr val="17261D"/>
      </a:dk1>
      <a:lt1>
        <a:srgbClr val="FFFFFF"/>
      </a:lt1>
      <a:dk2>
        <a:srgbClr val="1F4D36"/>
      </a:dk2>
      <a:lt2>
        <a:srgbClr val="EEF3EC"/>
      </a:lt2>
      <a:accent1>
        <a:srgbClr val="2E7D4F"/>
      </a:accent1>
      <a:accent2>
        <a:srgbClr val="E07B39"/>
      </a:accent2>
      <a:accent3>
        <a:srgbClr val="8FBF7F"/>
      </a:accent3>
      <a:accent4>
        <a:srgbClr val="3C6E8F"/>
      </a:accent4>
      <a:accent5>
        <a:srgbClr val="B8453A"/>
      </a:accent5>
      <a:accent6>
        <a:srgbClr val="5F6E66"/>
      </a:accent6>
      <a:hlink>
        <a:srgbClr val="2E7D4F"/>
      </a:hlink>
      <a:folHlink>
        <a:srgbClr val="5F6E66"/>
      </a:folHlink>
    </a:clrScheme>
    <a:fontScheme name="GreenTrail Trai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GreenTrail Outdoors: Promotion insights and Test &amp; Learn plan</dc:title>
  <dc:subject>Data-driven storytelling</dc:subject>
  <dc:creator>PptxGenJS</dc:creator>
  <cp:lastModifiedBy>PptxGenJS</cp:lastModifiedBy>
  <cp:revision>1</cp:revision>
  <dcterms:created xsi:type="dcterms:W3CDTF">2026-10-06T20:47:19Z</dcterms:created>
  <dcterms:modified xsi:type="dcterms:W3CDTF">2026-10-06T20:47:19Z</dcterms:modified>
</cp:coreProperties>
</file>